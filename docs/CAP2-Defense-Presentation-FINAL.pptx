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78" r:id="rId5"/>
    <p:sldId id="294" r:id="rId6"/>
    <p:sldId id="313" r:id="rId7"/>
    <p:sldId id="314" r:id="rId8"/>
    <p:sldId id="315" r:id="rId9"/>
    <p:sldId id="295" r:id="rId10"/>
    <p:sldId id="296" r:id="rId11"/>
    <p:sldId id="297" r:id="rId12"/>
    <p:sldId id="298" r:id="rId13"/>
    <p:sldId id="299" r:id="rId14"/>
    <p:sldId id="300" r:id="rId15"/>
    <p:sldId id="301" r:id="rId16"/>
    <p:sldId id="302" r:id="rId17"/>
    <p:sldId id="303" r:id="rId18"/>
    <p:sldId id="291" r:id="rId19"/>
    <p:sldId id="292" r:id="rId20"/>
    <p:sldId id="293" r:id="rId21"/>
    <p:sldId id="304" r:id="rId22"/>
    <p:sldId id="305" r:id="rId23"/>
    <p:sldId id="307" r:id="rId24"/>
    <p:sldId id="308" r:id="rId25"/>
    <p:sldId id="309" r:id="rId26"/>
    <p:sldId id="310" r:id="rId27"/>
    <p:sldId id="312" r:id="rId28"/>
  </p:sldIdLst>
  <p:sldSz cx="18288000" cy="10287000"/>
  <p:notesSz cx="6858000" cy="9144000"/>
  <p:embeddedFontLst>
    <p:embeddedFont>
      <p:font typeface="Canva Sans" panose="020B0604020202020204" charset="0"/>
      <p:regular r:id="rId29"/>
    </p:embeddedFont>
    <p:embeddedFont>
      <p:font typeface="Canva Sans Bold" panose="020B0604020202020204" charset="0"/>
      <p:regular r:id="rId30"/>
    </p:embeddedFont>
    <p:embeddedFont>
      <p:font typeface="Heading Now 71-78" panose="020B0604020202020204" charset="0"/>
      <p:regular r:id="rId31"/>
    </p:embeddedFont>
    <p:embeddedFont>
      <p:font typeface="Inter Bold" panose="020B0604020202020204" charset="0"/>
      <p:regular r:id="rId32"/>
    </p:embeddedFont>
    <p:embeddedFont>
      <p:font typeface="Lato" panose="020F0502020204030203" pitchFamily="34" charset="0"/>
      <p:regular r:id="rId33"/>
    </p:embeddedFont>
    <p:embeddedFont>
      <p:font typeface="Lato Bold" panose="020B0604020202020204" charset="0"/>
      <p:regular r:id="rId34"/>
    </p:embeddedFont>
    <p:embeddedFont>
      <p:font typeface="Montserrat Semi-Bold" panose="020B0604020202020204" charset="0"/>
      <p:regular r:id="rId35"/>
    </p:embeddedFont>
    <p:embeddedFont>
      <p:font typeface="Poppins" panose="00000500000000000000" pitchFamily="2" charset="0"/>
      <p:regular r:id="rId36"/>
    </p:embeddedFont>
    <p:embeddedFont>
      <p:font typeface="Poppins Semi-Bold" panose="020B0604020202020204" charset="0"/>
      <p:regular r:id="rId37"/>
    </p:embeddedFont>
    <p:embeddedFont>
      <p:font typeface="Roboto" panose="02000000000000000000" pitchFamily="2" charset="0"/>
      <p:regular r:id="rId38"/>
    </p:embeddedFont>
    <p:embeddedFont>
      <p:font typeface="Roboto Bold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1.fntdata"/><Relationship Id="rId21" Type="http://schemas.openxmlformats.org/officeDocument/2006/relationships/slide" Target="slides/slide20.xml"/><Relationship Id="rId34" Type="http://schemas.openxmlformats.org/officeDocument/2006/relationships/font" Target="fonts/font6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font" Target="fonts/font9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font" Target="fonts/font7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openxmlformats.org/officeDocument/2006/relationships/font" Target="fonts/font10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0" y="0"/>
            <a:ext cx="17566674" cy="10680117"/>
            <a:chOff x="0" y="0"/>
            <a:chExt cx="4626614" cy="2812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26614" cy="2812870"/>
            </a:xfrm>
            <a:custGeom>
              <a:avLst/>
              <a:gdLst/>
              <a:ahLst/>
              <a:cxnLst/>
              <a:rect l="l" t="t" r="r" b="b"/>
              <a:pathLst>
                <a:path w="4626614" h="2812870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1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381945" y="2636944"/>
            <a:ext cx="5141069" cy="5141069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229981" y="5191946"/>
            <a:ext cx="2586067" cy="2586067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>
                <a:alpha val="49804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AutoShape 11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89475B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3" name="Group 13"/>
          <p:cNvGrpSpPr/>
          <p:nvPr/>
        </p:nvGrpSpPr>
        <p:grpSpPr>
          <a:xfrm>
            <a:off x="1028700" y="8893175"/>
            <a:ext cx="353245" cy="353245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89475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2569032" y="3098699"/>
            <a:ext cx="10817167" cy="21011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181"/>
              </a:lnSpc>
            </a:pPr>
            <a:r>
              <a:rPr lang="en-US" sz="12272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JUAN CARLO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16273" y="5092685"/>
            <a:ext cx="10387814" cy="1950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58"/>
              </a:lnSpc>
            </a:pPr>
            <a:r>
              <a:rPr lang="en-US" sz="5612" b="1">
                <a:solidFill>
                  <a:srgbClr val="89475B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CATERING SYSTEM - CAPSTONE 2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680214" y="8845550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15985854" y="8781148"/>
            <a:ext cx="1273446" cy="477152"/>
            <a:chOff x="0" y="0"/>
            <a:chExt cx="1084619" cy="40640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84619" cy="406400"/>
            </a:xfrm>
            <a:custGeom>
              <a:avLst/>
              <a:gdLst/>
              <a:ahLst/>
              <a:cxnLst/>
              <a:rect l="l" t="t" r="r" b="b"/>
              <a:pathLst>
                <a:path w="1084619" h="406400">
                  <a:moveTo>
                    <a:pt x="881419" y="0"/>
                  </a:moveTo>
                  <a:cubicBezTo>
                    <a:pt x="993644" y="0"/>
                    <a:pt x="1084619" y="90976"/>
                    <a:pt x="1084619" y="203200"/>
                  </a:cubicBezTo>
                  <a:cubicBezTo>
                    <a:pt x="1084619" y="315424"/>
                    <a:pt x="993644" y="406400"/>
                    <a:pt x="881419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id="34" name="TextBox 34"/>
            <p:cNvSpPr txBox="1"/>
            <p:nvPr/>
          </p:nvSpPr>
          <p:spPr>
            <a:xfrm>
              <a:off x="0" y="-38100"/>
              <a:ext cx="1084619" cy="444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TextBox 35"/>
          <p:cNvSpPr txBox="1"/>
          <p:nvPr/>
        </p:nvSpPr>
        <p:spPr>
          <a:xfrm>
            <a:off x="16055598" y="8866465"/>
            <a:ext cx="1133958" cy="2779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2"/>
              </a:lnSpc>
            </a:pPr>
            <a:r>
              <a:rPr lang="en-US" sz="1637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01</a:t>
            </a:r>
          </a:p>
        </p:txBody>
      </p:sp>
      <p:sp>
        <p:nvSpPr>
          <p:cNvPr id="36" name="AutoShape 36"/>
          <p:cNvSpPr/>
          <p:nvPr/>
        </p:nvSpPr>
        <p:spPr>
          <a:xfrm>
            <a:off x="16622577" y="1297609"/>
            <a:ext cx="641146" cy="0"/>
          </a:xfrm>
          <a:prstGeom prst="line">
            <a:avLst/>
          </a:prstGeom>
          <a:ln w="38100" cap="flat">
            <a:solidFill>
              <a:srgbClr val="89475B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6564638" cy="3676277"/>
            <a:chOff x="0" y="0"/>
            <a:chExt cx="1728958" cy="9682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728958" cy="968238"/>
            </a:xfrm>
            <a:custGeom>
              <a:avLst/>
              <a:gdLst/>
              <a:ahLst/>
              <a:cxnLst/>
              <a:rect l="l" t="t" r="r" b="b"/>
              <a:pathLst>
                <a:path w="1728958" h="968238">
                  <a:moveTo>
                    <a:pt x="60146" y="0"/>
                  </a:moveTo>
                  <a:lnTo>
                    <a:pt x="1668812" y="0"/>
                  </a:lnTo>
                  <a:cubicBezTo>
                    <a:pt x="1702030" y="0"/>
                    <a:pt x="1728958" y="26928"/>
                    <a:pt x="1728958" y="60146"/>
                  </a:cubicBezTo>
                  <a:lnTo>
                    <a:pt x="1728958" y="908091"/>
                  </a:lnTo>
                  <a:cubicBezTo>
                    <a:pt x="1728958" y="941309"/>
                    <a:pt x="1702030" y="968238"/>
                    <a:pt x="1668812" y="968238"/>
                  </a:cubicBezTo>
                  <a:lnTo>
                    <a:pt x="60146" y="968238"/>
                  </a:lnTo>
                  <a:cubicBezTo>
                    <a:pt x="26928" y="968238"/>
                    <a:pt x="0" y="941309"/>
                    <a:pt x="0" y="908091"/>
                  </a:cubicBezTo>
                  <a:lnTo>
                    <a:pt x="0" y="60146"/>
                  </a:lnTo>
                  <a:cubicBezTo>
                    <a:pt x="0" y="26928"/>
                    <a:pt x="26928" y="0"/>
                    <a:pt x="60146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1728958" cy="10063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2030362"/>
            <a:ext cx="2092393" cy="6226275"/>
            <a:chOff x="0" y="0"/>
            <a:chExt cx="551083" cy="16398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083" cy="1639842"/>
            </a:xfrm>
            <a:custGeom>
              <a:avLst/>
              <a:gdLst/>
              <a:ahLst/>
              <a:cxnLst/>
              <a:rect l="l" t="t" r="r" b="b"/>
              <a:pathLst>
                <a:path w="551083" h="1639842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1451140"/>
                  </a:lnTo>
                  <a:cubicBezTo>
                    <a:pt x="551083" y="1555357"/>
                    <a:pt x="466598" y="1639842"/>
                    <a:pt x="362381" y="1639842"/>
                  </a:cubicBezTo>
                  <a:lnTo>
                    <a:pt x="188702" y="1639842"/>
                  </a:lnTo>
                  <a:cubicBezTo>
                    <a:pt x="84485" y="1639842"/>
                    <a:pt x="0" y="1555357"/>
                    <a:pt x="0" y="1451140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1083" cy="1677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293432" y="4365625"/>
            <a:ext cx="7850568" cy="1832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2"/>
              </a:lnSpc>
            </a:pPr>
            <a:r>
              <a:rPr lang="en-US" sz="7052" b="1">
                <a:solidFill>
                  <a:srgbClr val="4A1223"/>
                </a:solidFill>
                <a:latin typeface="Inter Bold"/>
                <a:ea typeface="Inter Bold"/>
                <a:cs typeface="Inter Bold"/>
                <a:sym typeface="Inter Bold"/>
              </a:rPr>
              <a:t>TABLE OF CONTENTS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58907" y="3374501"/>
            <a:ext cx="7963670" cy="42241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707"/>
              </a:lnSpc>
            </a:pPr>
            <a:r>
              <a:rPr lang="en-US" sz="2648" spc="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Client Organization Profile</a:t>
            </a:r>
          </a:p>
          <a:p>
            <a:pPr algn="just">
              <a:lnSpc>
                <a:spcPts val="3707"/>
              </a:lnSpc>
            </a:pPr>
            <a:r>
              <a:rPr lang="en-US" sz="2648" spc="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Solutions Objectives</a:t>
            </a:r>
          </a:p>
          <a:p>
            <a:pPr algn="just">
              <a:lnSpc>
                <a:spcPts val="3707"/>
              </a:lnSpc>
            </a:pPr>
            <a:r>
              <a:rPr lang="en-US" sz="2648" spc="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What's New Since CAP-1</a:t>
            </a:r>
          </a:p>
          <a:p>
            <a:pPr algn="just">
              <a:lnSpc>
                <a:spcPts val="3707"/>
              </a:lnSpc>
            </a:pPr>
            <a:r>
              <a:rPr lang="en-US" sz="2648" spc="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Remaining 20%</a:t>
            </a:r>
          </a:p>
          <a:p>
            <a:pPr algn="just">
              <a:lnSpc>
                <a:spcPts val="3707"/>
              </a:lnSpc>
            </a:pPr>
            <a:r>
              <a:rPr lang="en-US" sz="2648" spc="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Finance &amp; Reports Modules</a:t>
            </a:r>
          </a:p>
          <a:p>
            <a:pPr algn="just">
              <a:lnSpc>
                <a:spcPts val="3707"/>
              </a:lnSpc>
            </a:pPr>
            <a:r>
              <a:rPr lang="en-US" sz="2648" spc="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New Business Rules</a:t>
            </a:r>
          </a:p>
          <a:p>
            <a:pPr algn="just">
              <a:lnSpc>
                <a:spcPts val="3707"/>
              </a:lnSpc>
            </a:pPr>
            <a:r>
              <a:rPr lang="en-US" sz="2648" spc="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BPMN</a:t>
            </a:r>
          </a:p>
          <a:p>
            <a:pPr algn="just">
              <a:lnSpc>
                <a:spcPts val="3707"/>
              </a:lnSpc>
            </a:pPr>
            <a:r>
              <a:rPr lang="en-US" sz="2648" spc="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User Acceptance Testing</a:t>
            </a:r>
          </a:p>
          <a:p>
            <a:pPr algn="just">
              <a:lnSpc>
                <a:spcPts val="3707"/>
              </a:lnSpc>
            </a:pPr>
            <a:r>
              <a:rPr lang="en-US" sz="2648" spc="79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System Demo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622577" y="1080892"/>
            <a:ext cx="641146" cy="421628"/>
            <a:chOff x="0" y="0"/>
            <a:chExt cx="854861" cy="562171"/>
          </a:xfrm>
        </p:grpSpPr>
        <p:sp>
          <p:nvSpPr>
            <p:cNvPr id="30" name="AutoShape 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9494259" cy="4097485"/>
            <a:chOff x="0" y="0"/>
            <a:chExt cx="2500546" cy="1079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0546" cy="1079173"/>
            </a:xfrm>
            <a:custGeom>
              <a:avLst/>
              <a:gdLst/>
              <a:ahLst/>
              <a:cxnLst/>
              <a:rect l="l" t="t" r="r" b="b"/>
              <a:pathLst>
                <a:path w="2500546" h="1079173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2030362"/>
            <a:ext cx="2092393" cy="6226275"/>
            <a:chOff x="0" y="0"/>
            <a:chExt cx="551083" cy="16398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083" cy="1639842"/>
            </a:xfrm>
            <a:custGeom>
              <a:avLst/>
              <a:gdLst/>
              <a:ahLst/>
              <a:cxnLst/>
              <a:rect l="l" t="t" r="r" b="b"/>
              <a:pathLst>
                <a:path w="551083" h="1639842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1451140"/>
                  </a:lnTo>
                  <a:cubicBezTo>
                    <a:pt x="551083" y="1555357"/>
                    <a:pt x="466598" y="1639842"/>
                    <a:pt x="362381" y="1639842"/>
                  </a:cubicBezTo>
                  <a:lnTo>
                    <a:pt x="188702" y="1639842"/>
                  </a:lnTo>
                  <a:cubicBezTo>
                    <a:pt x="84485" y="1639842"/>
                    <a:pt x="0" y="1555357"/>
                    <a:pt x="0" y="1451140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1083" cy="1677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1169372" y="2578987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21" name="TextBox 21"/>
          <p:cNvSpPr txBox="1"/>
          <p:nvPr/>
        </p:nvSpPr>
        <p:spPr>
          <a:xfrm>
            <a:off x="422567" y="726953"/>
            <a:ext cx="7850568" cy="52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381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CLIENT ORGANIZATION PROFILE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86582" y="2803835"/>
            <a:ext cx="8756568" cy="58596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24"/>
              </a:lnSpc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Juan Carlo the Caterer, Inc.</a:t>
            </a:r>
          </a:p>
          <a:p>
            <a:pPr marL="451052" lvl="1" indent="-225526" algn="just">
              <a:lnSpc>
                <a:spcPts val="2924"/>
              </a:lnSpc>
              <a:buFont typeface="Arial"/>
              <a:buChar char="•"/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Founded in 1993 by Alex &amp; Teresita del Rosario</a:t>
            </a:r>
          </a:p>
          <a:p>
            <a:pPr marL="451052" lvl="1" indent="-225526" algn="just">
              <a:lnSpc>
                <a:spcPts val="2924"/>
              </a:lnSpc>
              <a:buFont typeface="Arial"/>
              <a:buChar char="•"/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Premier event catering company in the Philippines</a:t>
            </a:r>
          </a:p>
          <a:p>
            <a:pPr marL="451052" lvl="1" indent="-225526" algn="just">
              <a:lnSpc>
                <a:spcPts val="2924"/>
              </a:lnSpc>
              <a:buFont typeface="Arial"/>
              <a:buChar char="•"/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Known for luxurious, customized events</a:t>
            </a:r>
          </a:p>
          <a:p>
            <a:pPr algn="just">
              <a:lnSpc>
                <a:spcPts val="2924"/>
              </a:lnSpc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Services &amp; Expertise:</a:t>
            </a:r>
          </a:p>
          <a:p>
            <a:pPr marL="451052" lvl="1" indent="-225526" algn="just">
              <a:lnSpc>
                <a:spcPts val="2924"/>
              </a:lnSpc>
              <a:buFont typeface="Arial"/>
              <a:buChar char="•"/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Cater to weddings, debuts, corporate events, etc.</a:t>
            </a:r>
          </a:p>
          <a:p>
            <a:pPr marL="451052" lvl="1" indent="-225526" algn="just">
              <a:lnSpc>
                <a:spcPts val="2924"/>
              </a:lnSpc>
              <a:buFont typeface="Arial"/>
              <a:buChar char="•"/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Offer full-service solutions: food, styling, logistics, staffing</a:t>
            </a:r>
          </a:p>
          <a:p>
            <a:pPr algn="just">
              <a:lnSpc>
                <a:spcPts val="2924"/>
              </a:lnSpc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Organizational Structure:</a:t>
            </a:r>
          </a:p>
          <a:p>
            <a:pPr marL="451052" lvl="1" indent="-225526" algn="just">
              <a:lnSpc>
                <a:spcPts val="2924"/>
              </a:lnSpc>
              <a:buFont typeface="Arial"/>
              <a:buChar char="•"/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numerous departments working together (Sales, Kitchen, Logistics, etc.)</a:t>
            </a:r>
          </a:p>
          <a:p>
            <a:pPr algn="just">
              <a:lnSpc>
                <a:spcPts val="2924"/>
              </a:lnSpc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Current Challenge:</a:t>
            </a:r>
          </a:p>
          <a:p>
            <a:pPr marL="451052" lvl="1" indent="-225526" algn="just">
              <a:lnSpc>
                <a:spcPts val="2924"/>
              </a:lnSpc>
              <a:buFont typeface="Arial"/>
              <a:buChar char="•"/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Paper-based workflows</a:t>
            </a:r>
          </a:p>
          <a:p>
            <a:pPr marL="451052" lvl="1" indent="-225526" algn="just">
              <a:lnSpc>
                <a:spcPts val="2924"/>
              </a:lnSpc>
              <a:buFont typeface="Arial"/>
              <a:buChar char="•"/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Manual coordination slows operations</a:t>
            </a:r>
          </a:p>
          <a:p>
            <a:pPr marL="451052" lvl="1" indent="-225526" algn="just">
              <a:lnSpc>
                <a:spcPts val="2924"/>
              </a:lnSpc>
              <a:buFont typeface="Arial"/>
              <a:buChar char="•"/>
            </a:pPr>
            <a:r>
              <a:rPr lang="en-US" sz="2089" spc="62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Need for a digital process management system</a:t>
            </a:r>
          </a:p>
          <a:p>
            <a:pPr algn="just">
              <a:lnSpc>
                <a:spcPts val="2924"/>
              </a:lnSpc>
            </a:pPr>
            <a:endParaRPr lang="en-US" sz="2089" spc="62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2924"/>
              </a:lnSpc>
            </a:pPr>
            <a:endParaRPr lang="en-US" sz="2089" spc="62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6" name="Group 26"/>
          <p:cNvGrpSpPr/>
          <p:nvPr/>
        </p:nvGrpSpPr>
        <p:grpSpPr>
          <a:xfrm>
            <a:off x="16622577" y="1080892"/>
            <a:ext cx="641146" cy="421628"/>
            <a:chOff x="0" y="0"/>
            <a:chExt cx="854861" cy="562171"/>
          </a:xfrm>
        </p:grpSpPr>
        <p:sp>
          <p:nvSpPr>
            <p:cNvPr id="27" name="AutoShape 2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9494259" cy="4097485"/>
            <a:chOff x="0" y="0"/>
            <a:chExt cx="2500546" cy="1079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0546" cy="1079173"/>
            </a:xfrm>
            <a:custGeom>
              <a:avLst/>
              <a:gdLst/>
              <a:ahLst/>
              <a:cxnLst/>
              <a:rect l="l" t="t" r="r" b="b"/>
              <a:pathLst>
                <a:path w="2500546" h="1079173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2030362"/>
            <a:ext cx="2092393" cy="6226275"/>
            <a:chOff x="0" y="0"/>
            <a:chExt cx="551083" cy="16398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083" cy="1639842"/>
            </a:xfrm>
            <a:custGeom>
              <a:avLst/>
              <a:gdLst/>
              <a:ahLst/>
              <a:cxnLst/>
              <a:rect l="l" t="t" r="r" b="b"/>
              <a:pathLst>
                <a:path w="551083" h="1639842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1451140"/>
                  </a:lnTo>
                  <a:cubicBezTo>
                    <a:pt x="551083" y="1555357"/>
                    <a:pt x="466598" y="1639842"/>
                    <a:pt x="362381" y="1639842"/>
                  </a:cubicBezTo>
                  <a:lnTo>
                    <a:pt x="188702" y="1639842"/>
                  </a:lnTo>
                  <a:cubicBezTo>
                    <a:pt x="84485" y="1639842"/>
                    <a:pt x="0" y="1555357"/>
                    <a:pt x="0" y="1451140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1083" cy="16779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Freeform 20"/>
          <p:cNvSpPr/>
          <p:nvPr/>
        </p:nvSpPr>
        <p:spPr>
          <a:xfrm>
            <a:off x="1169372" y="2578987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9" y="0"/>
                </a:lnTo>
                <a:lnTo>
                  <a:pt x="6356959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grpSp>
        <p:nvGrpSpPr>
          <p:cNvPr id="21" name="Group 21"/>
          <p:cNvGrpSpPr/>
          <p:nvPr/>
        </p:nvGrpSpPr>
        <p:grpSpPr>
          <a:xfrm>
            <a:off x="16622577" y="1080892"/>
            <a:ext cx="641146" cy="421628"/>
            <a:chOff x="0" y="0"/>
            <a:chExt cx="854861" cy="562171"/>
          </a:xfrm>
        </p:grpSpPr>
        <p:sp>
          <p:nvSpPr>
            <p:cNvPr id="22" name="AutoShape 22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3" name="AutoShape 23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4" name="AutoShape 24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5" name="AutoShape 25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26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028700" y="600704"/>
            <a:ext cx="8273136" cy="5208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17"/>
              </a:lnSpc>
            </a:pPr>
            <a:r>
              <a:rPr lang="en-US" sz="381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SOLUTIONS OBJECTIVES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8663153" y="3243184"/>
            <a:ext cx="7963670" cy="4990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659"/>
              </a:lnSpc>
            </a:pPr>
            <a:r>
              <a:rPr lang="en-US" sz="1899" b="1" spc="5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General Objective</a:t>
            </a:r>
          </a:p>
          <a:p>
            <a:pPr algn="just">
              <a:lnSpc>
                <a:spcPts val="2659"/>
              </a:lnSpc>
            </a:pPr>
            <a:r>
              <a:rPr lang="en-US" sz="1899" spc="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Our main goal is to design and build a centralized Catering Management System (CMS). This system will address the current inefficiencies in Juan Carlo's workflow, streamlining coordination, enhancing communication, and digitizing operational workflows between departments.</a:t>
            </a:r>
          </a:p>
          <a:p>
            <a:pPr algn="just">
              <a:lnSpc>
                <a:spcPts val="2659"/>
              </a:lnSpc>
            </a:pPr>
            <a:endParaRPr lang="en-US" sz="1899" spc="56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2659"/>
              </a:lnSpc>
            </a:pPr>
            <a:r>
              <a:rPr lang="en-US" sz="1899" b="1" spc="56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Specific Objectives</a:t>
            </a: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spc="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Develop a unified platform</a:t>
            </a: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spc="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Enables real-time task routing</a:t>
            </a: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spc="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Implement a digital approval feature</a:t>
            </a: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spc="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Ensure the system functions smoothly</a:t>
            </a: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spc="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Test the system</a:t>
            </a: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spc="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Test system accuracy</a:t>
            </a:r>
          </a:p>
          <a:p>
            <a:pPr marL="410209" lvl="1" indent="-205105" algn="just">
              <a:lnSpc>
                <a:spcPts val="2659"/>
              </a:lnSpc>
              <a:buFont typeface="Arial"/>
              <a:buChar char="•"/>
            </a:pPr>
            <a:r>
              <a:rPr lang="en-US" sz="1899" spc="56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Improve System usability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109872" y="8567894"/>
            <a:ext cx="3366784" cy="368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Integrated Services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0"/>
            <a:ext cx="17566674" cy="10680117"/>
            <a:chOff x="0" y="0"/>
            <a:chExt cx="4626614" cy="2812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26614" cy="2812870"/>
            </a:xfrm>
            <a:custGeom>
              <a:avLst/>
              <a:gdLst/>
              <a:ahLst/>
              <a:cxnLst/>
              <a:rect l="l" t="t" r="r" b="b"/>
              <a:pathLst>
                <a:path w="4626614" h="2812870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1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19881" y="3007153"/>
            <a:ext cx="4691794" cy="469179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88395" y="3045253"/>
            <a:ext cx="2674155" cy="26741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09208" y="6182504"/>
            <a:ext cx="1478343" cy="14783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618154" y="1081375"/>
            <a:ext cx="641146" cy="421628"/>
            <a:chOff x="0" y="0"/>
            <a:chExt cx="854861" cy="562171"/>
          </a:xfrm>
        </p:grpSpPr>
        <p:sp>
          <p:nvSpPr>
            <p:cNvPr id="30" name="AutoShape 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28700" y="8893175"/>
            <a:ext cx="353245" cy="353245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680214" y="8845550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76690" y="3566803"/>
            <a:ext cx="13127499" cy="2307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sz="134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CAP-2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0725" y="3583648"/>
            <a:ext cx="4832283" cy="5528641"/>
            <a:chOff x="0" y="0"/>
            <a:chExt cx="1384316" cy="15838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27858" y="3583648"/>
            <a:ext cx="4832283" cy="5528641"/>
            <a:chOff x="0" y="0"/>
            <a:chExt cx="1384316" cy="15838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64992" y="3583648"/>
            <a:ext cx="4832283" cy="5528641"/>
            <a:chOff x="0" y="0"/>
            <a:chExt cx="1384316" cy="15838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761124"/>
            <a:ext cx="17042624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b="1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WHAT'S NEW SINCE CAP-1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46625" y="3967807"/>
            <a:ext cx="3149630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Formatting &amp; Visibility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72398" y="3967807"/>
            <a:ext cx="4143204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Alerts &amp; Records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78509" y="3967807"/>
            <a:ext cx="3832543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Constraints &amp; Cleanup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878509" y="9490837"/>
            <a:ext cx="9586380" cy="2409157"/>
            <a:chOff x="0" y="0"/>
            <a:chExt cx="2524808" cy="6345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98434" y="5047034"/>
            <a:ext cx="4046010" cy="171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Peso-formatted monetary values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Color-coded status badges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Priority sorting of worklists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Revised role dashboards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94293" y="5047034"/>
            <a:ext cx="4299413" cy="171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Per-department notifications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Pre-draft saving before contracts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Downloadable signed contract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Populated demo database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27538" y="5047034"/>
            <a:ext cx="4046010" cy="171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Time-bound deadlines enforced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Stockroom inventory cleanup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Guest pax terminology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booking per tasting slot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-4433878" y="-1532459"/>
            <a:ext cx="9586380" cy="2409157"/>
            <a:chOff x="0" y="0"/>
            <a:chExt cx="2524808" cy="6345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711052" y="1055037"/>
            <a:ext cx="641146" cy="421628"/>
            <a:chOff x="0" y="0"/>
            <a:chExt cx="854861" cy="562171"/>
          </a:xfrm>
        </p:grpSpPr>
        <p:sp>
          <p:nvSpPr>
            <p:cNvPr id="37" name="AutoShape 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  <p:extLst>
      <p:ext uri="{BB962C8B-B14F-4D97-AF65-F5344CB8AC3E}">
        <p14:creationId xmlns:p14="http://schemas.microsoft.com/office/powerpoint/2010/main" val="41637044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0725" y="3583648"/>
            <a:ext cx="4832283" cy="5528641"/>
            <a:chOff x="0" y="0"/>
            <a:chExt cx="1384316" cy="15838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27858" y="3583648"/>
            <a:ext cx="4832283" cy="5528641"/>
            <a:chOff x="0" y="0"/>
            <a:chExt cx="1384316" cy="15838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64992" y="3583648"/>
            <a:ext cx="4832283" cy="5528641"/>
            <a:chOff x="0" y="0"/>
            <a:chExt cx="1384316" cy="15838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761124"/>
            <a:ext cx="17042624" cy="8335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b="1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NEW SYSTEM CAPABILITIES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46625" y="3967807"/>
            <a:ext cx="3149630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Contract Lifecycle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72398" y="3967807"/>
            <a:ext cx="4143204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Payment Automation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78509" y="3967807"/>
            <a:ext cx="3832543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Operational Forms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878509" y="9490837"/>
            <a:ext cx="9586380" cy="2409157"/>
            <a:chOff x="0" y="0"/>
            <a:chExt cx="2524808" cy="6345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98434" y="5047034"/>
            <a:ext cx="4046010" cy="171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Draft validation statuses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Per-department Validated badge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Tasting confirm, no-show, and feedback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94293" y="5047034"/>
            <a:ext cx="4299413" cy="205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Collection timeline enforcement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 On-Hold for overdue 60%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Compliance sweep every 6 hours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notification per milestone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27538" y="5047034"/>
            <a:ext cx="4046010" cy="205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Dispatch &amp; trip ticket with counts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Item, purchase &amp; emergency requisitions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7-day lead-time SLA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Banquet check-in sheet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-4433878" y="-1532459"/>
            <a:ext cx="9586380" cy="2409157"/>
            <a:chOff x="0" y="0"/>
            <a:chExt cx="2524808" cy="6345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711052" y="1055037"/>
            <a:ext cx="641146" cy="421628"/>
            <a:chOff x="0" y="0"/>
            <a:chExt cx="854861" cy="562171"/>
          </a:xfrm>
        </p:grpSpPr>
        <p:sp>
          <p:nvSpPr>
            <p:cNvPr id="37" name="AutoShape 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  <p:extLst>
      <p:ext uri="{BB962C8B-B14F-4D97-AF65-F5344CB8AC3E}">
        <p14:creationId xmlns:p14="http://schemas.microsoft.com/office/powerpoint/2010/main" val="34744134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0725" y="3583648"/>
            <a:ext cx="4832283" cy="5528641"/>
            <a:chOff x="0" y="0"/>
            <a:chExt cx="1384316" cy="15838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27858" y="3583648"/>
            <a:ext cx="4832283" cy="5528641"/>
            <a:chOff x="0" y="0"/>
            <a:chExt cx="1384316" cy="15838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64992" y="3583648"/>
            <a:ext cx="4832283" cy="5528641"/>
            <a:chOff x="0" y="0"/>
            <a:chExt cx="1384316" cy="15838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761124"/>
            <a:ext cx="17042624" cy="167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b="1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THE REMAINING 20% - SCOPE AND STATUS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46625" y="3967807"/>
            <a:ext cx="3149630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Delivered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72398" y="3967807"/>
            <a:ext cx="4143204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Embedded In Workflows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78509" y="3967807"/>
            <a:ext cx="3832543" cy="3411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Future Work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878509" y="9490837"/>
            <a:ext cx="9586380" cy="2409157"/>
            <a:chOff x="0" y="0"/>
            <a:chExt cx="2524808" cy="6345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98434" y="5047034"/>
            <a:ext cx="4046010" cy="171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Finance module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Reports module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Full UAT across all departments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Post-UAT refinements applied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994293" y="5047034"/>
            <a:ext cx="4299413" cy="20591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Analytics: aging, readiness, budgets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Scheduling &amp; conflict prevention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Historical data capture for forecasting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727538" y="5047034"/>
            <a:ext cx="4046010" cy="1712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Forecasting module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Route planning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Mobile-device optimization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Post-implementation evaluation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-4433878" y="-1532459"/>
            <a:ext cx="9586380" cy="2409157"/>
            <a:chOff x="0" y="0"/>
            <a:chExt cx="2524808" cy="6345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711052" y="1055037"/>
            <a:ext cx="641146" cy="421628"/>
            <a:chOff x="0" y="0"/>
            <a:chExt cx="854861" cy="562171"/>
          </a:xfrm>
        </p:grpSpPr>
        <p:sp>
          <p:nvSpPr>
            <p:cNvPr id="37" name="AutoShape 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  <p:extLst>
      <p:ext uri="{BB962C8B-B14F-4D97-AF65-F5344CB8AC3E}">
        <p14:creationId xmlns:p14="http://schemas.microsoft.com/office/powerpoint/2010/main" val="1174510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05322" y="3557095"/>
            <a:ext cx="6210468" cy="5528641"/>
            <a:chOff x="0" y="0"/>
            <a:chExt cx="1779127" cy="15838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779127" cy="1583803"/>
            </a:xfrm>
            <a:custGeom>
              <a:avLst/>
              <a:gdLst/>
              <a:ahLst/>
              <a:cxnLst/>
              <a:rect l="l" t="t" r="r" b="b"/>
              <a:pathLst>
                <a:path w="1779127" h="1583803">
                  <a:moveTo>
                    <a:pt x="37398" y="0"/>
                  </a:moveTo>
                  <a:lnTo>
                    <a:pt x="1741730" y="0"/>
                  </a:lnTo>
                  <a:cubicBezTo>
                    <a:pt x="1762384" y="0"/>
                    <a:pt x="1779127" y="16744"/>
                    <a:pt x="1779127" y="37398"/>
                  </a:cubicBezTo>
                  <a:lnTo>
                    <a:pt x="1779127" y="1546405"/>
                  </a:lnTo>
                  <a:cubicBezTo>
                    <a:pt x="1779127" y="1567059"/>
                    <a:pt x="1762384" y="1583803"/>
                    <a:pt x="1741730" y="1583803"/>
                  </a:cubicBezTo>
                  <a:lnTo>
                    <a:pt x="37398" y="1583803"/>
                  </a:lnTo>
                  <a:cubicBezTo>
                    <a:pt x="27479" y="1583803"/>
                    <a:pt x="17967" y="1579863"/>
                    <a:pt x="10954" y="1572849"/>
                  </a:cubicBezTo>
                  <a:cubicBezTo>
                    <a:pt x="3940" y="1565836"/>
                    <a:pt x="0" y="1556324"/>
                    <a:pt x="0" y="1546405"/>
                  </a:cubicBezTo>
                  <a:lnTo>
                    <a:pt x="0" y="37398"/>
                  </a:lnTo>
                  <a:cubicBezTo>
                    <a:pt x="0" y="16744"/>
                    <a:pt x="16744" y="0"/>
                    <a:pt x="373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779127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295458" y="1705996"/>
            <a:ext cx="11118278" cy="167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b="1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COMPLETED ITEMS THAT MAKE 20%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610616" y="4962525"/>
            <a:ext cx="5399881" cy="228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FINANCE MODULE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2878509" y="9490837"/>
            <a:ext cx="9586380" cy="2409157"/>
            <a:chOff x="0" y="0"/>
            <a:chExt cx="2524808" cy="634511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1" name="TextBox 21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-4433878" y="-1532459"/>
            <a:ext cx="9586380" cy="2409157"/>
            <a:chOff x="0" y="0"/>
            <a:chExt cx="2524808" cy="63451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6711052" y="1055037"/>
            <a:ext cx="641146" cy="421628"/>
            <a:chOff x="0" y="0"/>
            <a:chExt cx="854861" cy="562171"/>
          </a:xfrm>
        </p:grpSpPr>
        <p:sp>
          <p:nvSpPr>
            <p:cNvPr id="26" name="AutoShape 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grpSp>
        <p:nvGrpSpPr>
          <p:cNvPr id="37" name="Group 37"/>
          <p:cNvGrpSpPr/>
          <p:nvPr/>
        </p:nvGrpSpPr>
        <p:grpSpPr>
          <a:xfrm>
            <a:off x="10465605" y="3557095"/>
            <a:ext cx="6210468" cy="5528641"/>
            <a:chOff x="0" y="0"/>
            <a:chExt cx="1779127" cy="1583803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1779127" cy="1583803"/>
            </a:xfrm>
            <a:custGeom>
              <a:avLst/>
              <a:gdLst/>
              <a:ahLst/>
              <a:cxnLst/>
              <a:rect l="l" t="t" r="r" b="b"/>
              <a:pathLst>
                <a:path w="1779127" h="1583803">
                  <a:moveTo>
                    <a:pt x="37398" y="0"/>
                  </a:moveTo>
                  <a:lnTo>
                    <a:pt x="1741730" y="0"/>
                  </a:lnTo>
                  <a:cubicBezTo>
                    <a:pt x="1762384" y="0"/>
                    <a:pt x="1779127" y="16744"/>
                    <a:pt x="1779127" y="37398"/>
                  </a:cubicBezTo>
                  <a:lnTo>
                    <a:pt x="1779127" y="1546405"/>
                  </a:lnTo>
                  <a:cubicBezTo>
                    <a:pt x="1779127" y="1567059"/>
                    <a:pt x="1762384" y="1583803"/>
                    <a:pt x="1741730" y="1583803"/>
                  </a:cubicBezTo>
                  <a:lnTo>
                    <a:pt x="37398" y="1583803"/>
                  </a:lnTo>
                  <a:cubicBezTo>
                    <a:pt x="27479" y="1583803"/>
                    <a:pt x="17967" y="1579863"/>
                    <a:pt x="10954" y="1572849"/>
                  </a:cubicBezTo>
                  <a:cubicBezTo>
                    <a:pt x="3940" y="1565836"/>
                    <a:pt x="0" y="1556324"/>
                    <a:pt x="0" y="1546405"/>
                  </a:cubicBezTo>
                  <a:lnTo>
                    <a:pt x="0" y="37398"/>
                  </a:lnTo>
                  <a:cubicBezTo>
                    <a:pt x="0" y="16744"/>
                    <a:pt x="16744" y="0"/>
                    <a:pt x="3739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0" y="-38100"/>
              <a:ext cx="1779127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689896" y="4962525"/>
            <a:ext cx="5399881" cy="22854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959"/>
              </a:lnSpc>
            </a:pPr>
            <a:r>
              <a:rPr lang="en-US" sz="6399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REPORTS MODULE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9494259" cy="4097485"/>
            <a:chOff x="0" y="0"/>
            <a:chExt cx="2500546" cy="1079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0546" cy="1079173"/>
            </a:xfrm>
            <a:custGeom>
              <a:avLst/>
              <a:gdLst/>
              <a:ahLst/>
              <a:cxnLst/>
              <a:rect l="l" t="t" r="r" b="b"/>
              <a:pathLst>
                <a:path w="2500546" h="1079173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083" cy="2230803"/>
            </a:xfrm>
            <a:custGeom>
              <a:avLst/>
              <a:gdLst/>
              <a:ahLst/>
              <a:cxnLst/>
              <a:rect l="l" t="t" r="r" b="b"/>
              <a:pathLst>
                <a:path w="551083" h="223080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379143" y="398345"/>
            <a:ext cx="6023238" cy="69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REMAINING 20%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23359" y="1823119"/>
            <a:ext cx="9464641" cy="74327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Purpose</a:t>
            </a:r>
          </a:p>
          <a:p>
            <a:pPr algn="just">
              <a:lnSpc>
                <a:spcPts val="3459"/>
              </a:lnSpc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manage and monitor client payments throughout the catering transaction.</a:t>
            </a:r>
          </a:p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Features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Payment monitoring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Reservation fee recording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40% initial payment tracking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60% final payment tracking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Payment status (Paid, Partially Paid, Unpaid)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Remaining balance computation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Payment history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Due date monitoring</a:t>
            </a:r>
          </a:p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Benefits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Eliminates manual payment tracking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Reduces missed payment deadlines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Improves financial monitoring</a:t>
            </a:r>
          </a:p>
          <a:p>
            <a:pPr algn="just">
              <a:lnSpc>
                <a:spcPts val="3459"/>
              </a:lnSpc>
            </a:pP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6622577" y="1080892"/>
            <a:ext cx="641146" cy="421628"/>
            <a:chOff x="0" y="0"/>
            <a:chExt cx="854861" cy="562171"/>
          </a:xfrm>
        </p:grpSpPr>
        <p:sp>
          <p:nvSpPr>
            <p:cNvPr id="26" name="AutoShape 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028700" y="3244342"/>
            <a:ext cx="6339325" cy="164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FINANCE MODULE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9494259" cy="4097485"/>
            <a:chOff x="0" y="0"/>
            <a:chExt cx="2500546" cy="1079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0546" cy="1079173"/>
            </a:xfrm>
            <a:custGeom>
              <a:avLst/>
              <a:gdLst/>
              <a:ahLst/>
              <a:cxnLst/>
              <a:rect l="l" t="t" r="r" b="b"/>
              <a:pathLst>
                <a:path w="2500546" h="1079173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083" cy="2230803"/>
            </a:xfrm>
            <a:custGeom>
              <a:avLst/>
              <a:gdLst/>
              <a:ahLst/>
              <a:cxnLst/>
              <a:rect l="l" t="t" r="r" b="b"/>
              <a:pathLst>
                <a:path w="551083" h="223080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379143" y="398345"/>
            <a:ext cx="6023238" cy="69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REMAINING 20%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23359" y="2918401"/>
            <a:ext cx="9464641" cy="524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Purpose</a:t>
            </a:r>
          </a:p>
          <a:p>
            <a:pPr algn="just">
              <a:lnSpc>
                <a:spcPts val="3459"/>
              </a:lnSpc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provide management with real-time reports for monitoring business operations.</a:t>
            </a:r>
          </a:p>
          <a:p>
            <a:pPr algn="just">
              <a:lnSpc>
                <a:spcPts val="3459"/>
              </a:lnSpc>
            </a:pP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Reports Available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Sales Report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Payment Report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Event Report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Inventory Report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Procurement Report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Financial Summary</a:t>
            </a:r>
          </a:p>
          <a:p>
            <a:pPr algn="just">
              <a:lnSpc>
                <a:spcPts val="3459"/>
              </a:lnSpc>
            </a:pP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6622577" y="1080892"/>
            <a:ext cx="641146" cy="421628"/>
            <a:chOff x="0" y="0"/>
            <a:chExt cx="854861" cy="562171"/>
          </a:xfrm>
        </p:grpSpPr>
        <p:sp>
          <p:nvSpPr>
            <p:cNvPr id="26" name="AutoShape 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028700" y="3244342"/>
            <a:ext cx="6339325" cy="164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REPORTS MODULE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9494259" cy="4097485"/>
            <a:chOff x="0" y="0"/>
            <a:chExt cx="2500546" cy="1079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0546" cy="1079173"/>
            </a:xfrm>
            <a:custGeom>
              <a:avLst/>
              <a:gdLst/>
              <a:ahLst/>
              <a:cxnLst/>
              <a:rect l="l" t="t" r="r" b="b"/>
              <a:pathLst>
                <a:path w="2500546" h="1079173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083" cy="2230803"/>
            </a:xfrm>
            <a:custGeom>
              <a:avLst/>
              <a:gdLst/>
              <a:ahLst/>
              <a:cxnLst/>
              <a:rect l="l" t="t" r="r" b="b"/>
              <a:pathLst>
                <a:path w="551083" h="223080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379143" y="398345"/>
            <a:ext cx="6023238" cy="69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REMAINING 20%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23359" y="2918401"/>
            <a:ext cx="9464641" cy="524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Features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Generate reports automatically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Export reports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Filter by date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Search reports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View department summaries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Monitor operational performance</a:t>
            </a:r>
          </a:p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Benefits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Faster decision making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Improved monitoring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Better business insights</a:t>
            </a:r>
          </a:p>
          <a:p>
            <a:pPr algn="just">
              <a:lnSpc>
                <a:spcPts val="3459"/>
              </a:lnSpc>
            </a:pP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6622577" y="1080892"/>
            <a:ext cx="641146" cy="421628"/>
            <a:chOff x="0" y="0"/>
            <a:chExt cx="854861" cy="562171"/>
          </a:xfrm>
        </p:grpSpPr>
        <p:sp>
          <p:nvSpPr>
            <p:cNvPr id="26" name="AutoShape 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028700" y="3244342"/>
            <a:ext cx="6339325" cy="164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REPORTS MODULE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0"/>
            <a:ext cx="17566674" cy="10680117"/>
            <a:chOff x="0" y="0"/>
            <a:chExt cx="4626614" cy="2812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26614" cy="2812870"/>
            </a:xfrm>
            <a:custGeom>
              <a:avLst/>
              <a:gdLst/>
              <a:ahLst/>
              <a:cxnLst/>
              <a:rect l="l" t="t" r="r" b="b"/>
              <a:pathLst>
                <a:path w="4626614" h="2812870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1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19881" y="3007153"/>
            <a:ext cx="4691794" cy="469179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88395" y="3045253"/>
            <a:ext cx="2674155" cy="26741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09208" y="6182504"/>
            <a:ext cx="1478343" cy="14783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618154" y="1081375"/>
            <a:ext cx="641146" cy="421628"/>
            <a:chOff x="0" y="0"/>
            <a:chExt cx="854861" cy="562171"/>
          </a:xfrm>
        </p:grpSpPr>
        <p:sp>
          <p:nvSpPr>
            <p:cNvPr id="30" name="AutoShape 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28700" y="8893175"/>
            <a:ext cx="353245" cy="353245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680214" y="8845550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248288" y="2665867"/>
            <a:ext cx="13127499" cy="4688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sz="134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NEW BUSINESS RULES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0725" y="3583648"/>
            <a:ext cx="4832283" cy="5528641"/>
            <a:chOff x="0" y="0"/>
            <a:chExt cx="1384316" cy="15838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27858" y="3583648"/>
            <a:ext cx="4832283" cy="5528641"/>
            <a:chOff x="0" y="0"/>
            <a:chExt cx="1384316" cy="15838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64992" y="3583648"/>
            <a:ext cx="4832283" cy="5528641"/>
            <a:chOff x="0" y="0"/>
            <a:chExt cx="1384316" cy="15838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761124"/>
            <a:ext cx="17042624" cy="1679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b="1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USER ACCESS &amp; CONTRACT MANAGEMENT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46625" y="3967807"/>
            <a:ext cx="3149630" cy="36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User Access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72398" y="3967807"/>
            <a:ext cx="4143204" cy="36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Menu Tasting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78509" y="3967807"/>
            <a:ext cx="3832543" cy="36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Contract Creation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878509" y="9490837"/>
            <a:ext cx="9586380" cy="2409157"/>
            <a:chOff x="0" y="0"/>
            <a:chExt cx="2524808" cy="6345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98434" y="5047034"/>
            <a:ext cx="4046010" cy="234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Role-based access control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Department-specific dashboards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Admin has full system access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Persistent workflow notifications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994293" y="5047034"/>
            <a:ext cx="4299413" cy="267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Available from 10:00 AM – 5:00 PM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One booking per hourly time slot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Maximum of 10 guests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Completed tasting required before contract creation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727538" y="5047034"/>
            <a:ext cx="4046010" cy="334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Complete client information required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 inventory availability checking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Alternative item suggestions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₱30,000 reservation fee (part of 40% payment)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Flexible payment options (40/60 or Full Payment)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-4433878" y="-1532459"/>
            <a:ext cx="9586380" cy="2409157"/>
            <a:chOff x="0" y="0"/>
            <a:chExt cx="2524808" cy="6345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711052" y="1055037"/>
            <a:ext cx="641146" cy="421628"/>
            <a:chOff x="0" y="0"/>
            <a:chExt cx="854861" cy="562171"/>
          </a:xfrm>
        </p:grpSpPr>
        <p:sp>
          <p:nvSpPr>
            <p:cNvPr id="37" name="AutoShape 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0725" y="3583648"/>
            <a:ext cx="4832283" cy="5528641"/>
            <a:chOff x="0" y="0"/>
            <a:chExt cx="1384316" cy="15838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27858" y="3583648"/>
            <a:ext cx="4832283" cy="5528641"/>
            <a:chOff x="0" y="0"/>
            <a:chExt cx="1384316" cy="15838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64992" y="3583648"/>
            <a:ext cx="4832283" cy="5528641"/>
            <a:chOff x="0" y="0"/>
            <a:chExt cx="1384316" cy="15838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761124"/>
            <a:ext cx="17042624" cy="86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b="1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CONTRACT PROCESSING &amp; PAYMENT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46625" y="3967807"/>
            <a:ext cx="3149630" cy="36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Contract Validation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72398" y="3967807"/>
            <a:ext cx="4143204" cy="36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Contract Signing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78509" y="3967807"/>
            <a:ext cx="3832543" cy="36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Payment Collection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878509" y="9490837"/>
            <a:ext cx="9586380" cy="2409157"/>
            <a:chOff x="0" y="0"/>
            <a:chExt cx="2524808" cy="6345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98434" y="5047034"/>
            <a:ext cx="4046010" cy="234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Department approvals required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Sales Manager &amp; Accounting verification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Contract ready for signature after validation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994293" y="5047034"/>
            <a:ext cx="4299413" cy="167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Physical or electronic signatures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Forwarded to Accounting after signing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727538" y="5047034"/>
            <a:ext cx="4046010" cy="26761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40% due after booking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60% due before the event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 payment reminders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No overpayment allowed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On-hold status for overdue balances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-4433878" y="-1532459"/>
            <a:ext cx="9586380" cy="2409157"/>
            <a:chOff x="0" y="0"/>
            <a:chExt cx="2524808" cy="6345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711052" y="1055037"/>
            <a:ext cx="641146" cy="421628"/>
            <a:chOff x="0" y="0"/>
            <a:chExt cx="854861" cy="562171"/>
          </a:xfrm>
        </p:grpSpPr>
        <p:sp>
          <p:nvSpPr>
            <p:cNvPr id="37" name="AutoShape 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0725" y="3583648"/>
            <a:ext cx="4832283" cy="5528641"/>
            <a:chOff x="0" y="0"/>
            <a:chExt cx="1384316" cy="15838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27858" y="3583648"/>
            <a:ext cx="4832283" cy="5528641"/>
            <a:chOff x="0" y="0"/>
            <a:chExt cx="1384316" cy="15838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64992" y="3583648"/>
            <a:ext cx="4832283" cy="5528641"/>
            <a:chOff x="0" y="0"/>
            <a:chExt cx="1384316" cy="15838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761124"/>
            <a:ext cx="17042624" cy="86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b="1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OPERATIONS &amp; INVENTORY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46625" y="3967807"/>
            <a:ext cx="3149630" cy="7206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Department Preparation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72398" y="3967807"/>
            <a:ext cx="4143204" cy="36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Inventory Management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78509" y="3967807"/>
            <a:ext cx="3832543" cy="36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Logistics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878509" y="9490837"/>
            <a:ext cx="9586380" cy="2409157"/>
            <a:chOff x="0" y="0"/>
            <a:chExt cx="2524808" cy="6345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98434" y="5047034"/>
            <a:ext cx="4046010" cy="2342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Parallel department preparation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Readiness reports required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Purchasing approval workflow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Material freeze (7 days before event)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994293" y="5047034"/>
            <a:ext cx="4299413" cy="167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Prevents double booking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Low-stock monitoring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Inventory movement tracking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Demand forecasting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727538" y="5047034"/>
            <a:ext cx="4046010" cy="167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Vehicle &amp; driver assignment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Loading schedule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Conflict prevention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Equipment accountability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-4433878" y="-1532459"/>
            <a:ext cx="9586380" cy="2409157"/>
            <a:chOff x="0" y="0"/>
            <a:chExt cx="2524808" cy="6345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711052" y="1055037"/>
            <a:ext cx="641146" cy="421628"/>
            <a:chOff x="0" y="0"/>
            <a:chExt cx="854861" cy="562171"/>
          </a:xfrm>
        </p:grpSpPr>
        <p:sp>
          <p:nvSpPr>
            <p:cNvPr id="37" name="AutoShape 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90725" y="3583648"/>
            <a:ext cx="4832283" cy="5528641"/>
            <a:chOff x="0" y="0"/>
            <a:chExt cx="1384316" cy="1583803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727858" y="3583648"/>
            <a:ext cx="4832283" cy="5528641"/>
            <a:chOff x="0" y="0"/>
            <a:chExt cx="1384316" cy="158380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2264992" y="3583648"/>
            <a:ext cx="4832283" cy="5528641"/>
            <a:chOff x="0" y="0"/>
            <a:chExt cx="1384316" cy="1583803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384316" cy="1583803"/>
            </a:xfrm>
            <a:custGeom>
              <a:avLst/>
              <a:gdLst/>
              <a:ahLst/>
              <a:cxnLst/>
              <a:rect l="l" t="t" r="r" b="b"/>
              <a:pathLst>
                <a:path w="1384316" h="1583803">
                  <a:moveTo>
                    <a:pt x="48064" y="0"/>
                  </a:moveTo>
                  <a:lnTo>
                    <a:pt x="1336252" y="0"/>
                  </a:lnTo>
                  <a:cubicBezTo>
                    <a:pt x="1362797" y="0"/>
                    <a:pt x="1384316" y="21519"/>
                    <a:pt x="1384316" y="48064"/>
                  </a:cubicBezTo>
                  <a:lnTo>
                    <a:pt x="1384316" y="1535739"/>
                  </a:lnTo>
                  <a:cubicBezTo>
                    <a:pt x="1384316" y="1548486"/>
                    <a:pt x="1379252" y="1560712"/>
                    <a:pt x="1370238" y="1569725"/>
                  </a:cubicBezTo>
                  <a:cubicBezTo>
                    <a:pt x="1361224" y="1578739"/>
                    <a:pt x="1348999" y="1583803"/>
                    <a:pt x="1336252" y="1583803"/>
                  </a:cubicBezTo>
                  <a:lnTo>
                    <a:pt x="48064" y="1583803"/>
                  </a:lnTo>
                  <a:cubicBezTo>
                    <a:pt x="35316" y="1583803"/>
                    <a:pt x="23091" y="1578739"/>
                    <a:pt x="14078" y="1569725"/>
                  </a:cubicBezTo>
                  <a:cubicBezTo>
                    <a:pt x="5064" y="1560712"/>
                    <a:pt x="0" y="1548486"/>
                    <a:pt x="0" y="1535739"/>
                  </a:cubicBezTo>
                  <a:lnTo>
                    <a:pt x="0" y="48064"/>
                  </a:lnTo>
                  <a:cubicBezTo>
                    <a:pt x="0" y="35316"/>
                    <a:pt x="5064" y="23091"/>
                    <a:pt x="14078" y="14078"/>
                  </a:cubicBezTo>
                  <a:cubicBezTo>
                    <a:pt x="23091" y="5064"/>
                    <a:pt x="35316" y="0"/>
                    <a:pt x="4806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0" y="-38100"/>
              <a:ext cx="1384316" cy="1621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761124"/>
            <a:ext cx="17042624" cy="8604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99"/>
              </a:lnSpc>
            </a:pPr>
            <a:r>
              <a:rPr lang="en-US" sz="6499" b="1">
                <a:solidFill>
                  <a:srgbClr val="E9EBED"/>
                </a:solidFill>
                <a:latin typeface="Inter Bold"/>
                <a:ea typeface="Inter Bold"/>
                <a:cs typeface="Inter Bold"/>
                <a:sym typeface="Inter Bold"/>
              </a:rPr>
              <a:t>EVENT COMPLETION &amp; AUTOMATION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046625" y="3967807"/>
            <a:ext cx="3149630" cy="36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Event Completion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072398" y="3967807"/>
            <a:ext cx="4143204" cy="36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Automation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2878509" y="3967807"/>
            <a:ext cx="3832543" cy="3682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1">
                <a:solidFill>
                  <a:srgbClr val="000000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Timeline Highlights</a:t>
            </a:r>
          </a:p>
        </p:txBody>
      </p:sp>
      <p:grpSp>
        <p:nvGrpSpPr>
          <p:cNvPr id="27" name="Group 27"/>
          <p:cNvGrpSpPr/>
          <p:nvPr/>
        </p:nvGrpSpPr>
        <p:grpSpPr>
          <a:xfrm>
            <a:off x="12878509" y="9490837"/>
            <a:ext cx="9586380" cy="2409157"/>
            <a:chOff x="0" y="0"/>
            <a:chExt cx="2524808" cy="634511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9" name="TextBox 29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1598434" y="5047034"/>
            <a:ext cx="4046010" cy="2009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Inventory inspection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Incident reporting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Client feedback collection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Contract closed after all requirements are met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1" name="TextBox 31"/>
          <p:cNvSpPr txBox="1"/>
          <p:nvPr/>
        </p:nvSpPr>
        <p:spPr>
          <a:xfrm>
            <a:off x="6994293" y="5047034"/>
            <a:ext cx="4299413" cy="16759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Automatic compliance checks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Payment reminders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Workflow notifications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Deadline monitoring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12727538" y="5047034"/>
            <a:ext cx="4046010" cy="33430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Reservation Fee → Booking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40% Payment → 2 months after booking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60% Payment → 2 months before event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Material Freeze → 7 days before event</a:t>
            </a:r>
          </a:p>
          <a:p>
            <a:pPr marL="410211" lvl="1" indent="-205106" algn="l">
              <a:lnSpc>
                <a:spcPts val="266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Event Completion → Contract Closure</a:t>
            </a:r>
          </a:p>
          <a:p>
            <a:pPr algn="l">
              <a:lnSpc>
                <a:spcPts val="2660"/>
              </a:lnSpc>
            </a:pPr>
            <a:endParaRPr lang="en-US" sz="19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33" name="Group 33"/>
          <p:cNvGrpSpPr/>
          <p:nvPr/>
        </p:nvGrpSpPr>
        <p:grpSpPr>
          <a:xfrm>
            <a:off x="-4433878" y="-1532459"/>
            <a:ext cx="9586380" cy="2409157"/>
            <a:chOff x="0" y="0"/>
            <a:chExt cx="2524808" cy="634511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2524808" cy="634510"/>
            </a:xfrm>
            <a:custGeom>
              <a:avLst/>
              <a:gdLst/>
              <a:ahLst/>
              <a:cxnLst/>
              <a:rect l="l" t="t" r="r" b="b"/>
              <a:pathLst>
                <a:path w="2524808" h="634510">
                  <a:moveTo>
                    <a:pt x="41187" y="0"/>
                  </a:moveTo>
                  <a:lnTo>
                    <a:pt x="2483620" y="0"/>
                  </a:lnTo>
                  <a:cubicBezTo>
                    <a:pt x="2506368" y="0"/>
                    <a:pt x="2524808" y="18440"/>
                    <a:pt x="2524808" y="41187"/>
                  </a:cubicBezTo>
                  <a:lnTo>
                    <a:pt x="2524808" y="593323"/>
                  </a:lnTo>
                  <a:cubicBezTo>
                    <a:pt x="2524808" y="604247"/>
                    <a:pt x="2520469" y="614723"/>
                    <a:pt x="2512744" y="622447"/>
                  </a:cubicBezTo>
                  <a:cubicBezTo>
                    <a:pt x="2505020" y="630171"/>
                    <a:pt x="2494544" y="634510"/>
                    <a:pt x="2483620" y="634510"/>
                  </a:cubicBezTo>
                  <a:lnTo>
                    <a:pt x="41187" y="634510"/>
                  </a:lnTo>
                  <a:cubicBezTo>
                    <a:pt x="18440" y="634510"/>
                    <a:pt x="0" y="616070"/>
                    <a:pt x="0" y="593323"/>
                  </a:cubicBezTo>
                  <a:lnTo>
                    <a:pt x="0" y="41187"/>
                  </a:lnTo>
                  <a:cubicBezTo>
                    <a:pt x="0" y="18440"/>
                    <a:pt x="18440" y="0"/>
                    <a:pt x="4118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5" name="TextBox 35"/>
            <p:cNvSpPr txBox="1"/>
            <p:nvPr/>
          </p:nvSpPr>
          <p:spPr>
            <a:xfrm>
              <a:off x="0" y="-38100"/>
              <a:ext cx="2524808" cy="67261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16711052" y="1055037"/>
            <a:ext cx="641146" cy="421628"/>
            <a:chOff x="0" y="0"/>
            <a:chExt cx="854861" cy="562171"/>
          </a:xfrm>
        </p:grpSpPr>
        <p:sp>
          <p:nvSpPr>
            <p:cNvPr id="37" name="AutoShape 37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8" name="AutoShape 38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9" name="AutoShape 39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0" name="AutoShape 4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1" name="AutoShape 4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2" name="AutoShape 4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43" name="AutoShape 43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44" name="Group 4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46" name="TextBox 4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E9EBED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0"/>
            <a:ext cx="17566674" cy="10680117"/>
            <a:chOff x="0" y="0"/>
            <a:chExt cx="4626614" cy="2812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26614" cy="2812870"/>
            </a:xfrm>
            <a:custGeom>
              <a:avLst/>
              <a:gdLst/>
              <a:ahLst/>
              <a:cxnLst/>
              <a:rect l="l" t="t" r="r" b="b"/>
              <a:pathLst>
                <a:path w="4626614" h="2812870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1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19881" y="3007153"/>
            <a:ext cx="4691794" cy="469179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88395" y="3045253"/>
            <a:ext cx="2674155" cy="26741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09208" y="6182504"/>
            <a:ext cx="1478343" cy="14783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618154" y="1081375"/>
            <a:ext cx="641146" cy="421628"/>
            <a:chOff x="0" y="0"/>
            <a:chExt cx="854861" cy="562171"/>
          </a:xfrm>
        </p:grpSpPr>
        <p:sp>
          <p:nvSpPr>
            <p:cNvPr id="30" name="AutoShape 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28700" y="8893175"/>
            <a:ext cx="353245" cy="353245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680214" y="8845550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-4883535" y="3412054"/>
            <a:ext cx="13127499" cy="23073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sz="134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BPMN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37849" y="8845550"/>
            <a:ext cx="5446237" cy="42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5368919" y="4154912"/>
            <a:ext cx="867152" cy="571662"/>
            <a:chOff x="0" y="0"/>
            <a:chExt cx="3135332" cy="2066938"/>
          </a:xfrm>
        </p:grpSpPr>
        <p:sp>
          <p:nvSpPr>
            <p:cNvPr id="4" name="Freeform 4"/>
            <p:cNvSpPr/>
            <p:nvPr/>
          </p:nvSpPr>
          <p:spPr>
            <a:xfrm>
              <a:off x="4808" y="2678"/>
              <a:ext cx="3125716" cy="2061581"/>
            </a:xfrm>
            <a:custGeom>
              <a:avLst/>
              <a:gdLst/>
              <a:ahLst/>
              <a:cxnLst/>
              <a:rect l="l" t="t" r="r" b="b"/>
              <a:pathLst>
                <a:path w="3125716" h="2061581">
                  <a:moveTo>
                    <a:pt x="1570312" y="2236"/>
                  </a:moveTo>
                  <a:lnTo>
                    <a:pt x="3123070" y="1025877"/>
                  </a:lnTo>
                  <a:cubicBezTo>
                    <a:pt x="3124722" y="1026966"/>
                    <a:pt x="3125716" y="1028812"/>
                    <a:pt x="3125716" y="1030791"/>
                  </a:cubicBezTo>
                  <a:cubicBezTo>
                    <a:pt x="3125716" y="1032769"/>
                    <a:pt x="3124722" y="1034616"/>
                    <a:pt x="3123070" y="1035705"/>
                  </a:cubicBezTo>
                  <a:lnTo>
                    <a:pt x="1570312" y="2059346"/>
                  </a:lnTo>
                  <a:cubicBezTo>
                    <a:pt x="1565790" y="2062327"/>
                    <a:pt x="1559926" y="2062327"/>
                    <a:pt x="1555404" y="2059346"/>
                  </a:cubicBezTo>
                  <a:lnTo>
                    <a:pt x="2646" y="1035705"/>
                  </a:lnTo>
                  <a:cubicBezTo>
                    <a:pt x="994" y="1034616"/>
                    <a:pt x="0" y="1032769"/>
                    <a:pt x="0" y="1030791"/>
                  </a:cubicBezTo>
                  <a:cubicBezTo>
                    <a:pt x="0" y="1028812"/>
                    <a:pt x="994" y="1026966"/>
                    <a:pt x="2646" y="1025877"/>
                  </a:cubicBezTo>
                  <a:lnTo>
                    <a:pt x="1555404" y="2236"/>
                  </a:lnTo>
                  <a:cubicBezTo>
                    <a:pt x="1559926" y="-745"/>
                    <a:pt x="1565790" y="-745"/>
                    <a:pt x="1570312" y="2236"/>
                  </a:cubicBezTo>
                  <a:close/>
                </a:path>
              </a:pathLst>
            </a:custGeom>
            <a:solidFill>
              <a:srgbClr val="0A5CD7"/>
            </a:solidFill>
            <a:ln cap="sq">
              <a:noFill/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538885" y="336205"/>
              <a:ext cx="2057561" cy="1375478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Validated?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" y="504667"/>
            <a:ext cx="1090858" cy="995394"/>
            <a:chOff x="0" y="0"/>
            <a:chExt cx="3654858" cy="33350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654858" cy="3335010"/>
            </a:xfrm>
            <a:custGeom>
              <a:avLst/>
              <a:gdLst/>
              <a:ahLst/>
              <a:cxnLst/>
              <a:rect l="l" t="t" r="r" b="b"/>
              <a:pathLst>
                <a:path w="3654858" h="3335010">
                  <a:moveTo>
                    <a:pt x="0" y="0"/>
                  </a:moveTo>
                  <a:lnTo>
                    <a:pt x="3654858" y="0"/>
                  </a:lnTo>
                  <a:lnTo>
                    <a:pt x="3654858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28575"/>
              <a:ext cx="3654858" cy="3363585"/>
            </a:xfrm>
            <a:prstGeom prst="rect">
              <a:avLst/>
            </a:prstGeom>
          </p:spPr>
          <p:txBody>
            <a:bodyPr lIns="6426" tIns="6426" rIns="6426" bIns="6426" rtlCol="0" anchor="ctr"/>
            <a:lstStyle/>
            <a:p>
              <a:pPr marL="0" lvl="1" indent="0" algn="just">
                <a:lnSpc>
                  <a:spcPts val="850"/>
                </a:lnSpc>
                <a:spcBef>
                  <a:spcPct val="0"/>
                </a:spcBef>
              </a:pPr>
              <a:r>
                <a:rPr lang="en-US" sz="607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Sales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9238" y="0"/>
            <a:ext cx="11895854" cy="504667"/>
            <a:chOff x="0" y="0"/>
            <a:chExt cx="22018755" cy="9341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018755" cy="934120"/>
            </a:xfrm>
            <a:custGeom>
              <a:avLst/>
              <a:gdLst/>
              <a:ahLst/>
              <a:cxnLst/>
              <a:rect l="l" t="t" r="r" b="b"/>
              <a:pathLst>
                <a:path w="22018755" h="934120">
                  <a:moveTo>
                    <a:pt x="0" y="0"/>
                  </a:moveTo>
                  <a:lnTo>
                    <a:pt x="22018755" y="0"/>
                  </a:lnTo>
                  <a:lnTo>
                    <a:pt x="22018755" y="934120"/>
                  </a:lnTo>
                  <a:lnTo>
                    <a:pt x="0" y="934120"/>
                  </a:lnTo>
                  <a:close/>
                </a:path>
              </a:pathLst>
            </a:custGeom>
            <a:gradFill rotWithShape="1">
              <a:gsLst>
                <a:gs pos="0">
                  <a:srgbClr val="E6F3FF">
                    <a:alpha val="100000"/>
                  </a:srgbClr>
                </a:gs>
                <a:gs pos="33333">
                  <a:srgbClr val="C7E4FF">
                    <a:alpha val="100000"/>
                  </a:srgbClr>
                </a:gs>
                <a:gs pos="66667">
                  <a:srgbClr val="8DC8FE">
                    <a:alpha val="100000"/>
                  </a:srgbClr>
                </a:gs>
                <a:gs pos="100000">
                  <a:srgbClr val="64B5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22018755" cy="1019845"/>
            </a:xfrm>
            <a:prstGeom prst="rect">
              <a:avLst/>
            </a:prstGeom>
          </p:spPr>
          <p:txBody>
            <a:bodyPr lIns="6426" tIns="6426" rIns="6426" bIns="6426" rtlCol="0" anchor="ctr"/>
            <a:lstStyle/>
            <a:p>
              <a:pPr marL="0" lvl="1" indent="0" algn="just">
                <a:lnSpc>
                  <a:spcPts val="2656"/>
                </a:lnSpc>
                <a:spcBef>
                  <a:spcPct val="0"/>
                </a:spcBef>
              </a:pPr>
              <a:r>
                <a:rPr lang="en-US" sz="1897" spc="-56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Menu Booking to Contract Creation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1" y="1593918"/>
            <a:ext cx="1090858" cy="995394"/>
            <a:chOff x="0" y="0"/>
            <a:chExt cx="3654858" cy="333501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654858" cy="3335010"/>
            </a:xfrm>
            <a:custGeom>
              <a:avLst/>
              <a:gdLst/>
              <a:ahLst/>
              <a:cxnLst/>
              <a:rect l="l" t="t" r="r" b="b"/>
              <a:pathLst>
                <a:path w="3654858" h="3335010">
                  <a:moveTo>
                    <a:pt x="0" y="0"/>
                  </a:moveTo>
                  <a:lnTo>
                    <a:pt x="3654858" y="0"/>
                  </a:lnTo>
                  <a:lnTo>
                    <a:pt x="3654858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28575"/>
              <a:ext cx="3654858" cy="3363585"/>
            </a:xfrm>
            <a:prstGeom prst="rect">
              <a:avLst/>
            </a:prstGeom>
          </p:spPr>
          <p:txBody>
            <a:bodyPr lIns="6426" tIns="6426" rIns="6426" bIns="6426" rtlCol="0" anchor="ctr"/>
            <a:lstStyle/>
            <a:p>
              <a:pPr marL="0" lvl="1" indent="0" algn="just">
                <a:lnSpc>
                  <a:spcPts val="850"/>
                </a:lnSpc>
                <a:spcBef>
                  <a:spcPct val="0"/>
                </a:spcBef>
              </a:pPr>
              <a:r>
                <a:rPr lang="en-US" sz="607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Accounting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1" y="2683168"/>
            <a:ext cx="1090858" cy="995394"/>
            <a:chOff x="0" y="0"/>
            <a:chExt cx="3654858" cy="333501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3654858" cy="3335010"/>
            </a:xfrm>
            <a:custGeom>
              <a:avLst/>
              <a:gdLst/>
              <a:ahLst/>
              <a:cxnLst/>
              <a:rect l="l" t="t" r="r" b="b"/>
              <a:pathLst>
                <a:path w="3654858" h="3335010">
                  <a:moveTo>
                    <a:pt x="0" y="0"/>
                  </a:moveTo>
                  <a:lnTo>
                    <a:pt x="3654858" y="0"/>
                  </a:lnTo>
                  <a:lnTo>
                    <a:pt x="3654858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0" y="-28575"/>
              <a:ext cx="3654858" cy="3363585"/>
            </a:xfrm>
            <a:prstGeom prst="rect">
              <a:avLst/>
            </a:prstGeom>
          </p:spPr>
          <p:txBody>
            <a:bodyPr lIns="6426" tIns="6426" rIns="6426" bIns="6426" rtlCol="0" anchor="ctr"/>
            <a:lstStyle/>
            <a:p>
              <a:pPr marL="0" lvl="1" indent="0" algn="just">
                <a:lnSpc>
                  <a:spcPts val="850"/>
                </a:lnSpc>
                <a:spcBef>
                  <a:spcPct val="0"/>
                </a:spcBef>
              </a:pPr>
              <a:r>
                <a:rPr lang="en-US" sz="607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Creative</a:t>
              </a:r>
            </a:p>
          </p:txBody>
        </p:sp>
      </p:grpSp>
      <p:sp>
        <p:nvSpPr>
          <p:cNvPr id="18" name="AutoShape 18"/>
          <p:cNvSpPr/>
          <p:nvPr/>
        </p:nvSpPr>
        <p:spPr>
          <a:xfrm flipV="1">
            <a:off x="11" y="1529376"/>
            <a:ext cx="18287973" cy="17614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AutoShape 19"/>
          <p:cNvSpPr/>
          <p:nvPr/>
        </p:nvSpPr>
        <p:spPr>
          <a:xfrm flipV="1">
            <a:off x="11" y="2634532"/>
            <a:ext cx="18287973" cy="1708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AutoShape 20"/>
          <p:cNvSpPr/>
          <p:nvPr/>
        </p:nvSpPr>
        <p:spPr>
          <a:xfrm>
            <a:off x="11" y="3725490"/>
            <a:ext cx="18287973" cy="15874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1" name="Group 21"/>
          <p:cNvGrpSpPr/>
          <p:nvPr/>
        </p:nvGrpSpPr>
        <p:grpSpPr>
          <a:xfrm>
            <a:off x="9226" y="3772601"/>
            <a:ext cx="1090858" cy="995394"/>
            <a:chOff x="0" y="0"/>
            <a:chExt cx="3654858" cy="333501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3654858" cy="3335010"/>
            </a:xfrm>
            <a:custGeom>
              <a:avLst/>
              <a:gdLst/>
              <a:ahLst/>
              <a:cxnLst/>
              <a:rect l="l" t="t" r="r" b="b"/>
              <a:pathLst>
                <a:path w="3654858" h="3335010">
                  <a:moveTo>
                    <a:pt x="0" y="0"/>
                  </a:moveTo>
                  <a:lnTo>
                    <a:pt x="3654858" y="0"/>
                  </a:lnTo>
                  <a:lnTo>
                    <a:pt x="3654858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28575"/>
              <a:ext cx="3654858" cy="3363585"/>
            </a:xfrm>
            <a:prstGeom prst="rect">
              <a:avLst/>
            </a:prstGeom>
          </p:spPr>
          <p:txBody>
            <a:bodyPr lIns="6426" tIns="6426" rIns="6426" bIns="6426" rtlCol="0" anchor="ctr"/>
            <a:lstStyle/>
            <a:p>
              <a:pPr marL="0" lvl="1" indent="0" algn="just">
                <a:lnSpc>
                  <a:spcPts val="850"/>
                </a:lnSpc>
                <a:spcBef>
                  <a:spcPct val="0"/>
                </a:spcBef>
              </a:pPr>
              <a:r>
                <a:rPr lang="en-US" sz="607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Linen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flipV="1">
            <a:off x="9226" y="4767995"/>
            <a:ext cx="18278758" cy="46928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11" y="4862034"/>
            <a:ext cx="1090858" cy="995394"/>
            <a:chOff x="0" y="0"/>
            <a:chExt cx="3654858" cy="333501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3654858" cy="3335010"/>
            </a:xfrm>
            <a:custGeom>
              <a:avLst/>
              <a:gdLst/>
              <a:ahLst/>
              <a:cxnLst/>
              <a:rect l="l" t="t" r="r" b="b"/>
              <a:pathLst>
                <a:path w="3654858" h="3335010">
                  <a:moveTo>
                    <a:pt x="0" y="0"/>
                  </a:moveTo>
                  <a:lnTo>
                    <a:pt x="3654858" y="0"/>
                  </a:lnTo>
                  <a:lnTo>
                    <a:pt x="3654858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0" y="-28575"/>
              <a:ext cx="3654858" cy="3363585"/>
            </a:xfrm>
            <a:prstGeom prst="rect">
              <a:avLst/>
            </a:prstGeom>
          </p:spPr>
          <p:txBody>
            <a:bodyPr lIns="6426" tIns="6426" rIns="6426" bIns="6426" rtlCol="0" anchor="ctr"/>
            <a:lstStyle/>
            <a:p>
              <a:pPr marL="0" lvl="1" indent="0" algn="just">
                <a:lnSpc>
                  <a:spcPts val="850"/>
                </a:lnSpc>
                <a:spcBef>
                  <a:spcPct val="0"/>
                </a:spcBef>
              </a:pPr>
              <a:r>
                <a:rPr lang="en-US" sz="607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Stockroom</a:t>
              </a:r>
            </a:p>
          </p:txBody>
        </p:sp>
      </p:grpSp>
      <p:sp>
        <p:nvSpPr>
          <p:cNvPr id="28" name="AutoShape 28"/>
          <p:cNvSpPr/>
          <p:nvPr/>
        </p:nvSpPr>
        <p:spPr>
          <a:xfrm flipV="1">
            <a:off x="11" y="5857428"/>
            <a:ext cx="18287973" cy="46928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9" name="Group 29"/>
          <p:cNvGrpSpPr/>
          <p:nvPr/>
        </p:nvGrpSpPr>
        <p:grpSpPr>
          <a:xfrm>
            <a:off x="9226" y="5956942"/>
            <a:ext cx="1090858" cy="995394"/>
            <a:chOff x="0" y="0"/>
            <a:chExt cx="3654858" cy="333501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654858" cy="3335010"/>
            </a:xfrm>
            <a:custGeom>
              <a:avLst/>
              <a:gdLst/>
              <a:ahLst/>
              <a:cxnLst/>
              <a:rect l="l" t="t" r="r" b="b"/>
              <a:pathLst>
                <a:path w="3654858" h="3335010">
                  <a:moveTo>
                    <a:pt x="0" y="0"/>
                  </a:moveTo>
                  <a:lnTo>
                    <a:pt x="3654858" y="0"/>
                  </a:lnTo>
                  <a:lnTo>
                    <a:pt x="3654858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0" y="-28575"/>
              <a:ext cx="3654858" cy="3363585"/>
            </a:xfrm>
            <a:prstGeom prst="rect">
              <a:avLst/>
            </a:prstGeom>
          </p:spPr>
          <p:txBody>
            <a:bodyPr lIns="6426" tIns="6426" rIns="6426" bIns="6426" rtlCol="0" anchor="ctr"/>
            <a:lstStyle/>
            <a:p>
              <a:pPr marL="0" lvl="1" indent="0" algn="just">
                <a:lnSpc>
                  <a:spcPts val="850"/>
                </a:lnSpc>
                <a:spcBef>
                  <a:spcPct val="0"/>
                </a:spcBef>
              </a:pPr>
              <a:r>
                <a:rPr lang="en-US" sz="607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Kitchen</a:t>
              </a:r>
            </a:p>
          </p:txBody>
        </p:sp>
      </p:grpSp>
      <p:sp>
        <p:nvSpPr>
          <p:cNvPr id="32" name="AutoShape 32"/>
          <p:cNvSpPr/>
          <p:nvPr/>
        </p:nvSpPr>
        <p:spPr>
          <a:xfrm flipV="1">
            <a:off x="9226" y="6952336"/>
            <a:ext cx="18278758" cy="46928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3" name="Group 33"/>
          <p:cNvGrpSpPr/>
          <p:nvPr/>
        </p:nvGrpSpPr>
        <p:grpSpPr>
          <a:xfrm>
            <a:off x="9226" y="7051850"/>
            <a:ext cx="1090858" cy="995394"/>
            <a:chOff x="0" y="0"/>
            <a:chExt cx="3654858" cy="333501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3654858" cy="3335010"/>
            </a:xfrm>
            <a:custGeom>
              <a:avLst/>
              <a:gdLst/>
              <a:ahLst/>
              <a:cxnLst/>
              <a:rect l="l" t="t" r="r" b="b"/>
              <a:pathLst>
                <a:path w="3654858" h="3335010">
                  <a:moveTo>
                    <a:pt x="0" y="0"/>
                  </a:moveTo>
                  <a:lnTo>
                    <a:pt x="3654858" y="0"/>
                  </a:lnTo>
                  <a:lnTo>
                    <a:pt x="3654858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0" y="-28575"/>
              <a:ext cx="3654858" cy="3363585"/>
            </a:xfrm>
            <a:prstGeom prst="rect">
              <a:avLst/>
            </a:prstGeom>
          </p:spPr>
          <p:txBody>
            <a:bodyPr lIns="6426" tIns="6426" rIns="6426" bIns="6426" rtlCol="0" anchor="ctr"/>
            <a:lstStyle/>
            <a:p>
              <a:pPr marL="0" lvl="1" indent="0" algn="just">
                <a:lnSpc>
                  <a:spcPts val="850"/>
                </a:lnSpc>
                <a:spcBef>
                  <a:spcPct val="0"/>
                </a:spcBef>
              </a:pPr>
              <a:r>
                <a:rPr lang="en-US" sz="607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Banquet</a:t>
              </a:r>
            </a:p>
          </p:txBody>
        </p:sp>
      </p:grpSp>
      <p:sp>
        <p:nvSpPr>
          <p:cNvPr id="36" name="AutoShape 36"/>
          <p:cNvSpPr/>
          <p:nvPr/>
        </p:nvSpPr>
        <p:spPr>
          <a:xfrm flipV="1">
            <a:off x="9226" y="8047244"/>
            <a:ext cx="18278758" cy="46928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7" name="Group 37"/>
          <p:cNvGrpSpPr/>
          <p:nvPr/>
        </p:nvGrpSpPr>
        <p:grpSpPr>
          <a:xfrm>
            <a:off x="9226" y="8146758"/>
            <a:ext cx="1090858" cy="995394"/>
            <a:chOff x="0" y="0"/>
            <a:chExt cx="3654858" cy="333501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3654858" cy="3335010"/>
            </a:xfrm>
            <a:custGeom>
              <a:avLst/>
              <a:gdLst/>
              <a:ahLst/>
              <a:cxnLst/>
              <a:rect l="l" t="t" r="r" b="b"/>
              <a:pathLst>
                <a:path w="3654858" h="3335010">
                  <a:moveTo>
                    <a:pt x="0" y="0"/>
                  </a:moveTo>
                  <a:lnTo>
                    <a:pt x="3654858" y="0"/>
                  </a:lnTo>
                  <a:lnTo>
                    <a:pt x="3654858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0" y="-28575"/>
              <a:ext cx="3654858" cy="3363585"/>
            </a:xfrm>
            <a:prstGeom prst="rect">
              <a:avLst/>
            </a:prstGeom>
          </p:spPr>
          <p:txBody>
            <a:bodyPr lIns="6426" tIns="6426" rIns="6426" bIns="6426" rtlCol="0" anchor="ctr"/>
            <a:lstStyle/>
            <a:p>
              <a:pPr marL="0" lvl="1" indent="0" algn="just">
                <a:lnSpc>
                  <a:spcPts val="850"/>
                </a:lnSpc>
                <a:spcBef>
                  <a:spcPct val="0"/>
                </a:spcBef>
              </a:pPr>
              <a:r>
                <a:rPr lang="en-US" sz="607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Logistics</a:t>
              </a:r>
            </a:p>
          </p:txBody>
        </p:sp>
      </p:grpSp>
      <p:sp>
        <p:nvSpPr>
          <p:cNvPr id="40" name="AutoShape 40"/>
          <p:cNvSpPr/>
          <p:nvPr/>
        </p:nvSpPr>
        <p:spPr>
          <a:xfrm flipV="1">
            <a:off x="9226" y="9142152"/>
            <a:ext cx="18278758" cy="46928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1" name="Group 41"/>
          <p:cNvGrpSpPr/>
          <p:nvPr/>
        </p:nvGrpSpPr>
        <p:grpSpPr>
          <a:xfrm>
            <a:off x="9226" y="9241665"/>
            <a:ext cx="1090858" cy="995394"/>
            <a:chOff x="0" y="0"/>
            <a:chExt cx="3654858" cy="3335010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654858" cy="3335010"/>
            </a:xfrm>
            <a:custGeom>
              <a:avLst/>
              <a:gdLst/>
              <a:ahLst/>
              <a:cxnLst/>
              <a:rect l="l" t="t" r="r" b="b"/>
              <a:pathLst>
                <a:path w="3654858" h="3335010">
                  <a:moveTo>
                    <a:pt x="0" y="0"/>
                  </a:moveTo>
                  <a:lnTo>
                    <a:pt x="3654858" y="0"/>
                  </a:lnTo>
                  <a:lnTo>
                    <a:pt x="3654858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28575"/>
              <a:ext cx="3654858" cy="3363585"/>
            </a:xfrm>
            <a:prstGeom prst="rect">
              <a:avLst/>
            </a:prstGeom>
          </p:spPr>
          <p:txBody>
            <a:bodyPr lIns="6426" tIns="6426" rIns="6426" bIns="6426" rtlCol="0" anchor="ctr"/>
            <a:lstStyle/>
            <a:p>
              <a:pPr marL="0" lvl="1" indent="0" algn="just">
                <a:lnSpc>
                  <a:spcPts val="850"/>
                </a:lnSpc>
                <a:spcBef>
                  <a:spcPct val="0"/>
                </a:spcBef>
              </a:pPr>
              <a:r>
                <a:rPr lang="en-US" sz="607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Purchasing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 flipV="1">
            <a:off x="7999" y="10237060"/>
            <a:ext cx="15848620" cy="46928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45" name="Group 45"/>
          <p:cNvGrpSpPr/>
          <p:nvPr/>
        </p:nvGrpSpPr>
        <p:grpSpPr>
          <a:xfrm>
            <a:off x="1267006" y="599723"/>
            <a:ext cx="359394" cy="311613"/>
            <a:chOff x="0" y="0"/>
            <a:chExt cx="937430" cy="81280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937430" cy="812800"/>
            </a:xfrm>
            <a:custGeom>
              <a:avLst/>
              <a:gdLst/>
              <a:ahLst/>
              <a:cxnLst/>
              <a:rect l="l" t="t" r="r" b="b"/>
              <a:pathLst>
                <a:path w="937430" h="812800">
                  <a:moveTo>
                    <a:pt x="468715" y="0"/>
                  </a:moveTo>
                  <a:cubicBezTo>
                    <a:pt x="209851" y="0"/>
                    <a:pt x="0" y="181951"/>
                    <a:pt x="0" y="406400"/>
                  </a:cubicBezTo>
                  <a:cubicBezTo>
                    <a:pt x="0" y="630849"/>
                    <a:pt x="209851" y="812800"/>
                    <a:pt x="468715" y="812800"/>
                  </a:cubicBezTo>
                  <a:cubicBezTo>
                    <a:pt x="727579" y="812800"/>
                    <a:pt x="937430" y="630849"/>
                    <a:pt x="937430" y="406400"/>
                  </a:cubicBezTo>
                  <a:cubicBezTo>
                    <a:pt x="937430" y="181951"/>
                    <a:pt x="727579" y="0"/>
                    <a:pt x="468715" y="0"/>
                  </a:cubicBezTo>
                  <a:close/>
                </a:path>
              </a:pathLst>
            </a:custGeom>
            <a:solidFill>
              <a:srgbClr val="66B6FF"/>
            </a:solidFill>
            <a:ln cap="sq">
              <a:noFill/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7884" y="57150"/>
              <a:ext cx="761662" cy="679450"/>
            </a:xfrm>
            <a:prstGeom prst="rect">
              <a:avLst/>
            </a:prstGeom>
          </p:spPr>
          <p:txBody>
            <a:bodyPr lIns="6426" tIns="6426" rIns="6426" bIns="6426" rtlCol="0" anchor="ctr"/>
            <a:lstStyle/>
            <a:p>
              <a:pPr algn="ctr">
                <a:lnSpc>
                  <a:spcPts val="991"/>
                </a:lnSpc>
              </a:pPr>
              <a:r>
                <a:rPr lang="en-US" sz="708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Start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1936699" y="616346"/>
            <a:ext cx="639464" cy="278368"/>
            <a:chOff x="0" y="0"/>
            <a:chExt cx="1184596" cy="515671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Menu Booking Tasting</a:t>
              </a:r>
            </a:p>
          </p:txBody>
        </p:sp>
      </p:grpSp>
      <p:sp>
        <p:nvSpPr>
          <p:cNvPr id="51" name="AutoShape 51"/>
          <p:cNvSpPr/>
          <p:nvPr/>
        </p:nvSpPr>
        <p:spPr>
          <a:xfrm>
            <a:off x="1626401" y="755530"/>
            <a:ext cx="310298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52" name="Group 52"/>
          <p:cNvGrpSpPr/>
          <p:nvPr/>
        </p:nvGrpSpPr>
        <p:grpSpPr>
          <a:xfrm>
            <a:off x="2752651" y="616346"/>
            <a:ext cx="639464" cy="278368"/>
            <a:chOff x="0" y="0"/>
            <a:chExt cx="1184596" cy="515671"/>
          </a:xfrm>
        </p:grpSpPr>
        <p:sp>
          <p:nvSpPr>
            <p:cNvPr id="53" name="Freeform 53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Manage  Booking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3568602" y="616346"/>
            <a:ext cx="639464" cy="278368"/>
            <a:chOff x="0" y="0"/>
            <a:chExt cx="1184596" cy="515671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Create Contract</a:t>
              </a:r>
            </a:p>
          </p:txBody>
        </p:sp>
      </p:grpSp>
      <p:sp>
        <p:nvSpPr>
          <p:cNvPr id="58" name="AutoShape 58"/>
          <p:cNvSpPr/>
          <p:nvPr/>
        </p:nvSpPr>
        <p:spPr>
          <a:xfrm>
            <a:off x="2576163" y="755530"/>
            <a:ext cx="176488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9" name="AutoShape 59"/>
          <p:cNvSpPr/>
          <p:nvPr/>
        </p:nvSpPr>
        <p:spPr>
          <a:xfrm>
            <a:off x="3392115" y="755530"/>
            <a:ext cx="176488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0" name="Group 60"/>
          <p:cNvGrpSpPr/>
          <p:nvPr/>
        </p:nvGrpSpPr>
        <p:grpSpPr>
          <a:xfrm>
            <a:off x="4376615" y="644965"/>
            <a:ext cx="639464" cy="221129"/>
            <a:chOff x="0" y="0"/>
            <a:chExt cx="1184596" cy="40963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184596" cy="409638"/>
            </a:xfrm>
            <a:custGeom>
              <a:avLst/>
              <a:gdLst/>
              <a:ahLst/>
              <a:cxnLst/>
              <a:rect l="l" t="t" r="r" b="b"/>
              <a:pathLst>
                <a:path w="1184596" h="409638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397531"/>
                  </a:lnTo>
                  <a:cubicBezTo>
                    <a:pt x="1184596" y="400742"/>
                    <a:pt x="1183320" y="403822"/>
                    <a:pt x="1181050" y="406092"/>
                  </a:cubicBezTo>
                  <a:cubicBezTo>
                    <a:pt x="1178779" y="408363"/>
                    <a:pt x="1175700" y="409638"/>
                    <a:pt x="1172489" y="409638"/>
                  </a:cubicBezTo>
                  <a:lnTo>
                    <a:pt x="12107" y="409638"/>
                  </a:lnTo>
                  <a:cubicBezTo>
                    <a:pt x="8896" y="409638"/>
                    <a:pt x="5817" y="408363"/>
                    <a:pt x="3546" y="406092"/>
                  </a:cubicBezTo>
                  <a:cubicBezTo>
                    <a:pt x="1276" y="403822"/>
                    <a:pt x="0" y="400742"/>
                    <a:pt x="0" y="397531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0" y="-19050"/>
              <a:ext cx="1184596" cy="428688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Save as Draft</a:t>
              </a:r>
            </a:p>
          </p:txBody>
        </p:sp>
      </p:grpSp>
      <p:sp>
        <p:nvSpPr>
          <p:cNvPr id="63" name="AutoShape 63"/>
          <p:cNvSpPr/>
          <p:nvPr/>
        </p:nvSpPr>
        <p:spPr>
          <a:xfrm>
            <a:off x="4208066" y="755530"/>
            <a:ext cx="168549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4" name="Group 64"/>
          <p:cNvGrpSpPr/>
          <p:nvPr/>
        </p:nvGrpSpPr>
        <p:grpSpPr>
          <a:xfrm>
            <a:off x="4376615" y="3067488"/>
            <a:ext cx="639464" cy="278368"/>
            <a:chOff x="0" y="0"/>
            <a:chExt cx="1184596" cy="515671"/>
          </a:xfrm>
        </p:grpSpPr>
        <p:sp>
          <p:nvSpPr>
            <p:cNvPr id="65" name="Freeform 65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Validate Creative Items</a:t>
              </a:r>
            </a:p>
          </p:txBody>
        </p:sp>
      </p:grpSp>
      <p:sp>
        <p:nvSpPr>
          <p:cNvPr id="67" name="AutoShape 67"/>
          <p:cNvSpPr/>
          <p:nvPr/>
        </p:nvSpPr>
        <p:spPr>
          <a:xfrm>
            <a:off x="4696347" y="896200"/>
            <a:ext cx="0" cy="2107147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8" name="Group 68"/>
          <p:cNvGrpSpPr/>
          <p:nvPr/>
        </p:nvGrpSpPr>
        <p:grpSpPr>
          <a:xfrm>
            <a:off x="4376615" y="4301559"/>
            <a:ext cx="639464" cy="278368"/>
            <a:chOff x="0" y="0"/>
            <a:chExt cx="1184596" cy="515671"/>
          </a:xfrm>
        </p:grpSpPr>
        <p:sp>
          <p:nvSpPr>
            <p:cNvPr id="69" name="Freeform 69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Validate Linen Items</a:t>
              </a:r>
            </a:p>
          </p:txBody>
        </p:sp>
      </p:grpSp>
      <p:sp>
        <p:nvSpPr>
          <p:cNvPr id="71" name="AutoShape 71"/>
          <p:cNvSpPr/>
          <p:nvPr/>
        </p:nvSpPr>
        <p:spPr>
          <a:xfrm>
            <a:off x="4696347" y="3409997"/>
            <a:ext cx="0" cy="890076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72" name="Group 72"/>
          <p:cNvGrpSpPr/>
          <p:nvPr/>
        </p:nvGrpSpPr>
        <p:grpSpPr>
          <a:xfrm>
            <a:off x="4376615" y="5251395"/>
            <a:ext cx="639464" cy="402193"/>
            <a:chOff x="0" y="0"/>
            <a:chExt cx="1184596" cy="745055"/>
          </a:xfrm>
        </p:grpSpPr>
        <p:sp>
          <p:nvSpPr>
            <p:cNvPr id="73" name="Freeform 73"/>
            <p:cNvSpPr/>
            <p:nvPr/>
          </p:nvSpPr>
          <p:spPr>
            <a:xfrm>
              <a:off x="0" y="0"/>
              <a:ext cx="1184596" cy="745055"/>
            </a:xfrm>
            <a:custGeom>
              <a:avLst/>
              <a:gdLst/>
              <a:ahLst/>
              <a:cxnLst/>
              <a:rect l="l" t="t" r="r" b="b"/>
              <a:pathLst>
                <a:path w="1184596" h="745055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732948"/>
                  </a:lnTo>
                  <a:cubicBezTo>
                    <a:pt x="1184596" y="736159"/>
                    <a:pt x="1183320" y="739238"/>
                    <a:pt x="1181050" y="741509"/>
                  </a:cubicBezTo>
                  <a:cubicBezTo>
                    <a:pt x="1178779" y="743779"/>
                    <a:pt x="1175700" y="745055"/>
                    <a:pt x="1172489" y="745055"/>
                  </a:cubicBezTo>
                  <a:lnTo>
                    <a:pt x="12107" y="745055"/>
                  </a:lnTo>
                  <a:cubicBezTo>
                    <a:pt x="8896" y="745055"/>
                    <a:pt x="5817" y="743779"/>
                    <a:pt x="3546" y="741509"/>
                  </a:cubicBezTo>
                  <a:cubicBezTo>
                    <a:pt x="1276" y="739238"/>
                    <a:pt x="0" y="736159"/>
                    <a:pt x="0" y="732948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0" y="-19050"/>
              <a:ext cx="1184596" cy="764105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Validate Stockroom Items</a:t>
              </a:r>
            </a:p>
          </p:txBody>
        </p:sp>
      </p:grpSp>
      <p:sp>
        <p:nvSpPr>
          <p:cNvPr id="75" name="AutoShape 75"/>
          <p:cNvSpPr/>
          <p:nvPr/>
        </p:nvSpPr>
        <p:spPr>
          <a:xfrm>
            <a:off x="4696347" y="4581412"/>
            <a:ext cx="0" cy="667754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6" name="Freeform 76"/>
          <p:cNvSpPr/>
          <p:nvPr/>
        </p:nvSpPr>
        <p:spPr>
          <a:xfrm>
            <a:off x="5016079" y="3206672"/>
            <a:ext cx="356975" cy="1234071"/>
          </a:xfrm>
          <a:custGeom>
            <a:avLst/>
            <a:gdLst/>
            <a:ahLst/>
            <a:cxnLst/>
            <a:rect l="l" t="t" r="r" b="b"/>
            <a:pathLst>
              <a:path w="356975" h="1234071">
                <a:moveTo>
                  <a:pt x="0" y="0"/>
                </a:moveTo>
                <a:lnTo>
                  <a:pt x="0" y="588460"/>
                </a:lnTo>
                <a:cubicBezTo>
                  <a:pt x="0" y="596039"/>
                  <a:pt x="3010" y="603307"/>
                  <a:pt x="8369" y="608666"/>
                </a:cubicBezTo>
                <a:cubicBezTo>
                  <a:pt x="13728" y="614025"/>
                  <a:pt x="20996" y="617035"/>
                  <a:pt x="28575" y="617035"/>
                </a:cubicBezTo>
                <a:lnTo>
                  <a:pt x="328399" y="617035"/>
                </a:lnTo>
                <a:cubicBezTo>
                  <a:pt x="335978" y="617035"/>
                  <a:pt x="343246" y="620046"/>
                  <a:pt x="348605" y="625405"/>
                </a:cubicBezTo>
                <a:cubicBezTo>
                  <a:pt x="353964" y="630764"/>
                  <a:pt x="356974" y="638032"/>
                  <a:pt x="356974" y="645610"/>
                </a:cubicBezTo>
                <a:lnTo>
                  <a:pt x="356974" y="1234071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77" name="Group 77"/>
          <p:cNvGrpSpPr/>
          <p:nvPr/>
        </p:nvGrpSpPr>
        <p:grpSpPr>
          <a:xfrm>
            <a:off x="6692322" y="751130"/>
            <a:ext cx="1094080" cy="221129"/>
            <a:chOff x="0" y="0"/>
            <a:chExt cx="2026763" cy="409638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026763" cy="409638"/>
            </a:xfrm>
            <a:custGeom>
              <a:avLst/>
              <a:gdLst/>
              <a:ahLst/>
              <a:cxnLst/>
              <a:rect l="l" t="t" r="r" b="b"/>
              <a:pathLst>
                <a:path w="2026763" h="409638">
                  <a:moveTo>
                    <a:pt x="7076" y="0"/>
                  </a:moveTo>
                  <a:lnTo>
                    <a:pt x="2019687" y="0"/>
                  </a:lnTo>
                  <a:cubicBezTo>
                    <a:pt x="2023595" y="0"/>
                    <a:pt x="2026763" y="3168"/>
                    <a:pt x="2026763" y="7076"/>
                  </a:cubicBezTo>
                  <a:lnTo>
                    <a:pt x="2026763" y="402562"/>
                  </a:lnTo>
                  <a:cubicBezTo>
                    <a:pt x="2026763" y="404439"/>
                    <a:pt x="2026018" y="406239"/>
                    <a:pt x="2024691" y="407566"/>
                  </a:cubicBezTo>
                  <a:cubicBezTo>
                    <a:pt x="2023364" y="408893"/>
                    <a:pt x="2021564" y="409638"/>
                    <a:pt x="2019687" y="409638"/>
                  </a:cubicBezTo>
                  <a:lnTo>
                    <a:pt x="7076" y="409638"/>
                  </a:lnTo>
                  <a:cubicBezTo>
                    <a:pt x="3168" y="409638"/>
                    <a:pt x="0" y="406470"/>
                    <a:pt x="0" y="402562"/>
                  </a:cubicBezTo>
                  <a:lnTo>
                    <a:pt x="0" y="7076"/>
                  </a:lnTo>
                  <a:cubicBezTo>
                    <a:pt x="0" y="3168"/>
                    <a:pt x="3168" y="0"/>
                    <a:pt x="7076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0" y="-19050"/>
              <a:ext cx="2026763" cy="428688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Confirm Payment term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6919630" y="3003347"/>
            <a:ext cx="639464" cy="221129"/>
            <a:chOff x="0" y="0"/>
            <a:chExt cx="1184596" cy="409638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1184596" cy="409638"/>
            </a:xfrm>
            <a:custGeom>
              <a:avLst/>
              <a:gdLst/>
              <a:ahLst/>
              <a:cxnLst/>
              <a:rect l="l" t="t" r="r" b="b"/>
              <a:pathLst>
                <a:path w="1184596" h="409638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397531"/>
                  </a:lnTo>
                  <a:cubicBezTo>
                    <a:pt x="1184596" y="400742"/>
                    <a:pt x="1183320" y="403822"/>
                    <a:pt x="1181050" y="406092"/>
                  </a:cubicBezTo>
                  <a:cubicBezTo>
                    <a:pt x="1178779" y="408363"/>
                    <a:pt x="1175700" y="409638"/>
                    <a:pt x="1172489" y="409638"/>
                  </a:cubicBezTo>
                  <a:lnTo>
                    <a:pt x="12107" y="409638"/>
                  </a:lnTo>
                  <a:cubicBezTo>
                    <a:pt x="8896" y="409638"/>
                    <a:pt x="5817" y="408363"/>
                    <a:pt x="3546" y="406092"/>
                  </a:cubicBezTo>
                  <a:cubicBezTo>
                    <a:pt x="1276" y="403822"/>
                    <a:pt x="0" y="400742"/>
                    <a:pt x="0" y="397531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0" y="-19050"/>
              <a:ext cx="1184596" cy="428688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Edit Items</a:t>
              </a:r>
            </a:p>
          </p:txBody>
        </p:sp>
      </p:grpSp>
      <p:sp>
        <p:nvSpPr>
          <p:cNvPr id="83" name="Freeform 83"/>
          <p:cNvSpPr/>
          <p:nvPr/>
        </p:nvSpPr>
        <p:spPr>
          <a:xfrm>
            <a:off x="5194566" y="4440743"/>
            <a:ext cx="178487" cy="0"/>
          </a:xfrm>
          <a:custGeom>
            <a:avLst/>
            <a:gdLst/>
            <a:ahLst/>
            <a:cxnLst/>
            <a:rect l="l" t="t" r="r" b="b"/>
            <a:pathLst>
              <a:path w="178487">
                <a:moveTo>
                  <a:pt x="0" y="0"/>
                </a:moveTo>
                <a:lnTo>
                  <a:pt x="178487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4" name="Freeform 84"/>
          <p:cNvSpPr/>
          <p:nvPr/>
        </p:nvSpPr>
        <p:spPr>
          <a:xfrm>
            <a:off x="5016079" y="4440743"/>
            <a:ext cx="356975" cy="1011749"/>
          </a:xfrm>
          <a:custGeom>
            <a:avLst/>
            <a:gdLst/>
            <a:ahLst/>
            <a:cxnLst/>
            <a:rect l="l" t="t" r="r" b="b"/>
            <a:pathLst>
              <a:path w="356975" h="1011749">
                <a:moveTo>
                  <a:pt x="0" y="1011749"/>
                </a:moveTo>
                <a:lnTo>
                  <a:pt x="0" y="534449"/>
                </a:lnTo>
                <a:cubicBezTo>
                  <a:pt x="0" y="518667"/>
                  <a:pt x="12793" y="505874"/>
                  <a:pt x="28575" y="505874"/>
                </a:cubicBezTo>
                <a:lnTo>
                  <a:pt x="328399" y="505874"/>
                </a:lnTo>
                <a:cubicBezTo>
                  <a:pt x="344181" y="505874"/>
                  <a:pt x="356974" y="493081"/>
                  <a:pt x="356974" y="477299"/>
                </a:cubicBezTo>
                <a:lnTo>
                  <a:pt x="356974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85" name="Freeform 85"/>
          <p:cNvSpPr/>
          <p:nvPr/>
        </p:nvSpPr>
        <p:spPr>
          <a:xfrm>
            <a:off x="5802495" y="861695"/>
            <a:ext cx="889828" cy="3295653"/>
          </a:xfrm>
          <a:custGeom>
            <a:avLst/>
            <a:gdLst/>
            <a:ahLst/>
            <a:cxnLst/>
            <a:rect l="l" t="t" r="r" b="b"/>
            <a:pathLst>
              <a:path w="889828" h="3295653">
                <a:moveTo>
                  <a:pt x="0" y="3295653"/>
                </a:moveTo>
                <a:lnTo>
                  <a:pt x="0" y="1676401"/>
                </a:lnTo>
                <a:cubicBezTo>
                  <a:pt x="0" y="1660620"/>
                  <a:pt x="12793" y="1647826"/>
                  <a:pt x="28575" y="1647826"/>
                </a:cubicBezTo>
                <a:lnTo>
                  <a:pt x="861253" y="1647826"/>
                </a:lnTo>
                <a:cubicBezTo>
                  <a:pt x="877034" y="1647826"/>
                  <a:pt x="889828" y="1635033"/>
                  <a:pt x="889828" y="1619251"/>
                </a:cubicBezTo>
                <a:lnTo>
                  <a:pt x="889828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86" name="Group 86"/>
          <p:cNvGrpSpPr/>
          <p:nvPr/>
        </p:nvGrpSpPr>
        <p:grpSpPr>
          <a:xfrm>
            <a:off x="6919630" y="4330178"/>
            <a:ext cx="639464" cy="221129"/>
            <a:chOff x="0" y="0"/>
            <a:chExt cx="1184596" cy="409638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1184596" cy="409638"/>
            </a:xfrm>
            <a:custGeom>
              <a:avLst/>
              <a:gdLst/>
              <a:ahLst/>
              <a:cxnLst/>
              <a:rect l="l" t="t" r="r" b="b"/>
              <a:pathLst>
                <a:path w="1184596" h="409638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397531"/>
                  </a:lnTo>
                  <a:cubicBezTo>
                    <a:pt x="1184596" y="400742"/>
                    <a:pt x="1183320" y="403822"/>
                    <a:pt x="1181050" y="406092"/>
                  </a:cubicBezTo>
                  <a:cubicBezTo>
                    <a:pt x="1178779" y="408363"/>
                    <a:pt x="1175700" y="409638"/>
                    <a:pt x="1172489" y="409638"/>
                  </a:cubicBezTo>
                  <a:lnTo>
                    <a:pt x="12107" y="409638"/>
                  </a:lnTo>
                  <a:cubicBezTo>
                    <a:pt x="8896" y="409638"/>
                    <a:pt x="5817" y="408363"/>
                    <a:pt x="3546" y="406092"/>
                  </a:cubicBezTo>
                  <a:cubicBezTo>
                    <a:pt x="1276" y="403822"/>
                    <a:pt x="0" y="400742"/>
                    <a:pt x="0" y="397531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0" y="-19050"/>
              <a:ext cx="1184596" cy="428688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Edit Items</a:t>
              </a:r>
            </a:p>
          </p:txBody>
        </p:sp>
      </p:grpSp>
      <p:sp>
        <p:nvSpPr>
          <p:cNvPr id="89" name="Freeform 89"/>
          <p:cNvSpPr/>
          <p:nvPr/>
        </p:nvSpPr>
        <p:spPr>
          <a:xfrm>
            <a:off x="6575783" y="4440743"/>
            <a:ext cx="343847" cy="0"/>
          </a:xfrm>
          <a:custGeom>
            <a:avLst/>
            <a:gdLst/>
            <a:ahLst/>
            <a:cxnLst/>
            <a:rect l="l" t="t" r="r" b="b"/>
            <a:pathLst>
              <a:path w="343847">
                <a:moveTo>
                  <a:pt x="0" y="0"/>
                </a:moveTo>
                <a:lnTo>
                  <a:pt x="343847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0" name="Group 90"/>
          <p:cNvGrpSpPr/>
          <p:nvPr/>
        </p:nvGrpSpPr>
        <p:grpSpPr>
          <a:xfrm>
            <a:off x="6919630" y="5341927"/>
            <a:ext cx="639464" cy="221129"/>
            <a:chOff x="0" y="0"/>
            <a:chExt cx="1184596" cy="409638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184596" cy="409638"/>
            </a:xfrm>
            <a:custGeom>
              <a:avLst/>
              <a:gdLst/>
              <a:ahLst/>
              <a:cxnLst/>
              <a:rect l="l" t="t" r="r" b="b"/>
              <a:pathLst>
                <a:path w="1184596" h="409638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397531"/>
                  </a:lnTo>
                  <a:cubicBezTo>
                    <a:pt x="1184596" y="400742"/>
                    <a:pt x="1183320" y="403822"/>
                    <a:pt x="1181050" y="406092"/>
                  </a:cubicBezTo>
                  <a:cubicBezTo>
                    <a:pt x="1178779" y="408363"/>
                    <a:pt x="1175700" y="409638"/>
                    <a:pt x="1172489" y="409638"/>
                  </a:cubicBezTo>
                  <a:lnTo>
                    <a:pt x="12107" y="409638"/>
                  </a:lnTo>
                  <a:cubicBezTo>
                    <a:pt x="8896" y="409638"/>
                    <a:pt x="5817" y="408363"/>
                    <a:pt x="3546" y="406092"/>
                  </a:cubicBezTo>
                  <a:cubicBezTo>
                    <a:pt x="1276" y="403822"/>
                    <a:pt x="0" y="400742"/>
                    <a:pt x="0" y="397531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0" y="-19050"/>
              <a:ext cx="1184596" cy="428688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Edit Items</a:t>
              </a:r>
            </a:p>
          </p:txBody>
        </p:sp>
      </p:grpSp>
      <p:sp>
        <p:nvSpPr>
          <p:cNvPr id="93" name="Freeform 93"/>
          <p:cNvSpPr/>
          <p:nvPr/>
        </p:nvSpPr>
        <p:spPr>
          <a:xfrm>
            <a:off x="6231936" y="4440743"/>
            <a:ext cx="687694" cy="1011749"/>
          </a:xfrm>
          <a:custGeom>
            <a:avLst/>
            <a:gdLst/>
            <a:ahLst/>
            <a:cxnLst/>
            <a:rect l="l" t="t" r="r" b="b"/>
            <a:pathLst>
              <a:path w="687694" h="1011749">
                <a:moveTo>
                  <a:pt x="0" y="0"/>
                </a:moveTo>
                <a:lnTo>
                  <a:pt x="0" y="477299"/>
                </a:lnTo>
                <a:cubicBezTo>
                  <a:pt x="0" y="484878"/>
                  <a:pt x="3011" y="492146"/>
                  <a:pt x="8369" y="497505"/>
                </a:cubicBezTo>
                <a:cubicBezTo>
                  <a:pt x="13728" y="502863"/>
                  <a:pt x="20996" y="505874"/>
                  <a:pt x="28575" y="505874"/>
                </a:cubicBezTo>
                <a:lnTo>
                  <a:pt x="659119" y="505874"/>
                </a:lnTo>
                <a:cubicBezTo>
                  <a:pt x="666698" y="505874"/>
                  <a:pt x="673966" y="508885"/>
                  <a:pt x="679325" y="514243"/>
                </a:cubicBezTo>
                <a:cubicBezTo>
                  <a:pt x="684684" y="519602"/>
                  <a:pt x="687694" y="526870"/>
                  <a:pt x="687694" y="534449"/>
                </a:cubicBezTo>
                <a:lnTo>
                  <a:pt x="687694" y="1011749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4" name="Freeform 94"/>
          <p:cNvSpPr/>
          <p:nvPr/>
        </p:nvSpPr>
        <p:spPr>
          <a:xfrm>
            <a:off x="6231936" y="3113911"/>
            <a:ext cx="687694" cy="1326832"/>
          </a:xfrm>
          <a:custGeom>
            <a:avLst/>
            <a:gdLst/>
            <a:ahLst/>
            <a:cxnLst/>
            <a:rect l="l" t="t" r="r" b="b"/>
            <a:pathLst>
              <a:path w="687694" h="1326832">
                <a:moveTo>
                  <a:pt x="0" y="1326832"/>
                </a:moveTo>
                <a:lnTo>
                  <a:pt x="0" y="691991"/>
                </a:lnTo>
                <a:cubicBezTo>
                  <a:pt x="0" y="676209"/>
                  <a:pt x="12793" y="663416"/>
                  <a:pt x="28575" y="663416"/>
                </a:cubicBezTo>
                <a:lnTo>
                  <a:pt x="659119" y="663416"/>
                </a:lnTo>
                <a:cubicBezTo>
                  <a:pt x="674901" y="663416"/>
                  <a:pt x="687694" y="650622"/>
                  <a:pt x="687694" y="634841"/>
                </a:cubicBezTo>
                <a:lnTo>
                  <a:pt x="687694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5" name="Group 95"/>
          <p:cNvGrpSpPr/>
          <p:nvPr/>
        </p:nvGrpSpPr>
        <p:grpSpPr>
          <a:xfrm>
            <a:off x="8400428" y="751130"/>
            <a:ext cx="966548" cy="221129"/>
            <a:chOff x="0" y="0"/>
            <a:chExt cx="1790513" cy="409638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790513" cy="409638"/>
            </a:xfrm>
            <a:custGeom>
              <a:avLst/>
              <a:gdLst/>
              <a:ahLst/>
              <a:cxnLst/>
              <a:rect l="l" t="t" r="r" b="b"/>
              <a:pathLst>
                <a:path w="1790513" h="409638">
                  <a:moveTo>
                    <a:pt x="8010" y="0"/>
                  </a:moveTo>
                  <a:lnTo>
                    <a:pt x="1782503" y="0"/>
                  </a:lnTo>
                  <a:cubicBezTo>
                    <a:pt x="1786926" y="0"/>
                    <a:pt x="1790513" y="3586"/>
                    <a:pt x="1790513" y="8010"/>
                  </a:cubicBezTo>
                  <a:lnTo>
                    <a:pt x="1790513" y="401628"/>
                  </a:lnTo>
                  <a:cubicBezTo>
                    <a:pt x="1790513" y="403753"/>
                    <a:pt x="1789669" y="405790"/>
                    <a:pt x="1788167" y="407292"/>
                  </a:cubicBezTo>
                  <a:cubicBezTo>
                    <a:pt x="1786664" y="408794"/>
                    <a:pt x="1784627" y="409638"/>
                    <a:pt x="1782503" y="409638"/>
                  </a:cubicBezTo>
                  <a:lnTo>
                    <a:pt x="8010" y="409638"/>
                  </a:lnTo>
                  <a:cubicBezTo>
                    <a:pt x="3586" y="409638"/>
                    <a:pt x="0" y="406052"/>
                    <a:pt x="0" y="401628"/>
                  </a:cubicBezTo>
                  <a:lnTo>
                    <a:pt x="0" y="8010"/>
                  </a:lnTo>
                  <a:cubicBezTo>
                    <a:pt x="0" y="3586"/>
                    <a:pt x="3586" y="0"/>
                    <a:pt x="8010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0" y="-19050"/>
              <a:ext cx="1790513" cy="428688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Send for signature</a:t>
              </a:r>
            </a:p>
          </p:txBody>
        </p:sp>
      </p:grpSp>
      <p:sp>
        <p:nvSpPr>
          <p:cNvPr id="98" name="Freeform 98"/>
          <p:cNvSpPr/>
          <p:nvPr/>
        </p:nvSpPr>
        <p:spPr>
          <a:xfrm>
            <a:off x="8093415" y="861695"/>
            <a:ext cx="307013" cy="0"/>
          </a:xfrm>
          <a:custGeom>
            <a:avLst/>
            <a:gdLst/>
            <a:ahLst/>
            <a:cxnLst/>
            <a:rect l="l" t="t" r="r" b="b"/>
            <a:pathLst>
              <a:path w="307013">
                <a:moveTo>
                  <a:pt x="0" y="0"/>
                </a:moveTo>
                <a:lnTo>
                  <a:pt x="307013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99" name="Group 99"/>
          <p:cNvGrpSpPr/>
          <p:nvPr/>
        </p:nvGrpSpPr>
        <p:grpSpPr>
          <a:xfrm>
            <a:off x="9568657" y="2011041"/>
            <a:ext cx="639464" cy="278368"/>
            <a:chOff x="0" y="0"/>
            <a:chExt cx="1184596" cy="515671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Approve for preparation</a:t>
              </a:r>
            </a:p>
          </p:txBody>
        </p:sp>
      </p:grpSp>
      <p:sp>
        <p:nvSpPr>
          <p:cNvPr id="102" name="Freeform 102"/>
          <p:cNvSpPr/>
          <p:nvPr/>
        </p:nvSpPr>
        <p:spPr>
          <a:xfrm>
            <a:off x="9455244" y="2150224"/>
            <a:ext cx="113413" cy="0"/>
          </a:xfrm>
          <a:custGeom>
            <a:avLst/>
            <a:gdLst/>
            <a:ahLst/>
            <a:cxnLst/>
            <a:rect l="l" t="t" r="r" b="b"/>
            <a:pathLst>
              <a:path w="113413">
                <a:moveTo>
                  <a:pt x="0" y="0"/>
                </a:moveTo>
                <a:lnTo>
                  <a:pt x="113413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03" name="Group 103"/>
          <p:cNvGrpSpPr/>
          <p:nvPr/>
        </p:nvGrpSpPr>
        <p:grpSpPr>
          <a:xfrm>
            <a:off x="10385934" y="3007673"/>
            <a:ext cx="639464" cy="278368"/>
            <a:chOff x="0" y="0"/>
            <a:chExt cx="1184596" cy="515671"/>
          </a:xfrm>
        </p:grpSpPr>
        <p:sp>
          <p:nvSpPr>
            <p:cNvPr id="104" name="Freeform 104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Creative Item Checklist</a:t>
              </a:r>
            </a:p>
          </p:txBody>
        </p:sp>
      </p:grpSp>
      <p:sp>
        <p:nvSpPr>
          <p:cNvPr id="106" name="Freeform 106"/>
          <p:cNvSpPr/>
          <p:nvPr/>
        </p:nvSpPr>
        <p:spPr>
          <a:xfrm>
            <a:off x="10208120" y="2150224"/>
            <a:ext cx="497546" cy="793308"/>
          </a:xfrm>
          <a:custGeom>
            <a:avLst/>
            <a:gdLst/>
            <a:ahLst/>
            <a:cxnLst/>
            <a:rect l="l" t="t" r="r" b="b"/>
            <a:pathLst>
              <a:path w="497546" h="793308">
                <a:moveTo>
                  <a:pt x="0" y="0"/>
                </a:moveTo>
                <a:lnTo>
                  <a:pt x="0" y="368079"/>
                </a:lnTo>
                <a:cubicBezTo>
                  <a:pt x="0" y="383861"/>
                  <a:pt x="12794" y="396654"/>
                  <a:pt x="28575" y="396654"/>
                </a:cubicBezTo>
                <a:lnTo>
                  <a:pt x="468972" y="396654"/>
                </a:lnTo>
                <a:cubicBezTo>
                  <a:pt x="476550" y="396654"/>
                  <a:pt x="483818" y="399665"/>
                  <a:pt x="489177" y="405024"/>
                </a:cubicBezTo>
                <a:cubicBezTo>
                  <a:pt x="494536" y="410382"/>
                  <a:pt x="497547" y="417651"/>
                  <a:pt x="497547" y="425229"/>
                </a:cubicBezTo>
                <a:lnTo>
                  <a:pt x="497547" y="793308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07" name="Group 107"/>
          <p:cNvGrpSpPr/>
          <p:nvPr/>
        </p:nvGrpSpPr>
        <p:grpSpPr>
          <a:xfrm>
            <a:off x="10385934" y="4229207"/>
            <a:ext cx="639464" cy="278368"/>
            <a:chOff x="0" y="0"/>
            <a:chExt cx="1184596" cy="515671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Linen Item Checklist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0385934" y="5244755"/>
            <a:ext cx="639464" cy="278368"/>
            <a:chOff x="0" y="0"/>
            <a:chExt cx="1184596" cy="515671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Stockroom Item Checklist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0385934" y="6518780"/>
            <a:ext cx="639464" cy="278368"/>
            <a:chOff x="0" y="0"/>
            <a:chExt cx="1184596" cy="515671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15" name="TextBox 115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Kitchen Menu Checklist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0385934" y="7565251"/>
            <a:ext cx="639464" cy="278368"/>
            <a:chOff x="0" y="0"/>
            <a:chExt cx="1184596" cy="515671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Banquet Staff Availability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0385934" y="8532547"/>
            <a:ext cx="639464" cy="278368"/>
            <a:chOff x="0" y="0"/>
            <a:chExt cx="1184596" cy="515671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1184596" cy="515671"/>
            </a:xfrm>
            <a:custGeom>
              <a:avLst/>
              <a:gdLst/>
              <a:ahLst/>
              <a:cxnLst/>
              <a:rect l="l" t="t" r="r" b="b"/>
              <a:pathLst>
                <a:path w="1184596" h="515671">
                  <a:moveTo>
                    <a:pt x="12107" y="0"/>
                  </a:moveTo>
                  <a:lnTo>
                    <a:pt x="1172489" y="0"/>
                  </a:lnTo>
                  <a:cubicBezTo>
                    <a:pt x="1175700" y="0"/>
                    <a:pt x="1178779" y="1276"/>
                    <a:pt x="1181050" y="3546"/>
                  </a:cubicBezTo>
                  <a:cubicBezTo>
                    <a:pt x="1183320" y="5817"/>
                    <a:pt x="1184596" y="8896"/>
                    <a:pt x="1184596" y="12107"/>
                  </a:cubicBezTo>
                  <a:lnTo>
                    <a:pt x="1184596" y="503564"/>
                  </a:lnTo>
                  <a:cubicBezTo>
                    <a:pt x="1184596" y="506775"/>
                    <a:pt x="1183320" y="509855"/>
                    <a:pt x="1181050" y="512125"/>
                  </a:cubicBezTo>
                  <a:cubicBezTo>
                    <a:pt x="1178779" y="514396"/>
                    <a:pt x="1175700" y="515671"/>
                    <a:pt x="1172489" y="515671"/>
                  </a:cubicBezTo>
                  <a:lnTo>
                    <a:pt x="12107" y="515671"/>
                  </a:lnTo>
                  <a:cubicBezTo>
                    <a:pt x="8896" y="515671"/>
                    <a:pt x="5817" y="514396"/>
                    <a:pt x="3546" y="512125"/>
                  </a:cubicBezTo>
                  <a:cubicBezTo>
                    <a:pt x="1276" y="509855"/>
                    <a:pt x="0" y="506775"/>
                    <a:pt x="0" y="503564"/>
                  </a:cubicBezTo>
                  <a:lnTo>
                    <a:pt x="0" y="12107"/>
                  </a:lnTo>
                  <a:cubicBezTo>
                    <a:pt x="0" y="8896"/>
                    <a:pt x="1276" y="5817"/>
                    <a:pt x="3546" y="3546"/>
                  </a:cubicBezTo>
                  <a:cubicBezTo>
                    <a:pt x="5817" y="1276"/>
                    <a:pt x="8896" y="0"/>
                    <a:pt x="1210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21" name="TextBox 121"/>
            <p:cNvSpPr txBox="1"/>
            <p:nvPr/>
          </p:nvSpPr>
          <p:spPr>
            <a:xfrm>
              <a:off x="0" y="-19050"/>
              <a:ext cx="1184596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Logistics Booking</a:t>
              </a:r>
            </a:p>
          </p:txBody>
        </p:sp>
      </p:grpSp>
      <p:sp>
        <p:nvSpPr>
          <p:cNvPr id="122" name="Freeform 122"/>
          <p:cNvSpPr/>
          <p:nvPr/>
        </p:nvSpPr>
        <p:spPr>
          <a:xfrm>
            <a:off x="10705667" y="3788952"/>
            <a:ext cx="0" cy="438769"/>
          </a:xfrm>
          <a:custGeom>
            <a:avLst/>
            <a:gdLst/>
            <a:ahLst/>
            <a:cxnLst/>
            <a:rect l="l" t="t" r="r" b="b"/>
            <a:pathLst>
              <a:path h="438769">
                <a:moveTo>
                  <a:pt x="0" y="0"/>
                </a:moveTo>
                <a:lnTo>
                  <a:pt x="0" y="438769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3" name="Freeform 123"/>
          <p:cNvSpPr/>
          <p:nvPr/>
        </p:nvSpPr>
        <p:spPr>
          <a:xfrm>
            <a:off x="10705667" y="4844837"/>
            <a:ext cx="0" cy="335777"/>
          </a:xfrm>
          <a:custGeom>
            <a:avLst/>
            <a:gdLst/>
            <a:ahLst/>
            <a:cxnLst/>
            <a:rect l="l" t="t" r="r" b="b"/>
            <a:pathLst>
              <a:path h="335777">
                <a:moveTo>
                  <a:pt x="0" y="0"/>
                </a:moveTo>
                <a:lnTo>
                  <a:pt x="0" y="335777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4" name="Freeform 124"/>
          <p:cNvSpPr/>
          <p:nvPr/>
        </p:nvSpPr>
        <p:spPr>
          <a:xfrm>
            <a:off x="10705667" y="6020952"/>
            <a:ext cx="0" cy="433687"/>
          </a:xfrm>
          <a:custGeom>
            <a:avLst/>
            <a:gdLst/>
            <a:ahLst/>
            <a:cxnLst/>
            <a:rect l="l" t="t" r="r" b="b"/>
            <a:pathLst>
              <a:path h="433687">
                <a:moveTo>
                  <a:pt x="0" y="0"/>
                </a:moveTo>
                <a:lnTo>
                  <a:pt x="0" y="433687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5" name="Freeform 125"/>
          <p:cNvSpPr/>
          <p:nvPr/>
        </p:nvSpPr>
        <p:spPr>
          <a:xfrm>
            <a:off x="10705667" y="7181200"/>
            <a:ext cx="0" cy="319911"/>
          </a:xfrm>
          <a:custGeom>
            <a:avLst/>
            <a:gdLst/>
            <a:ahLst/>
            <a:cxnLst/>
            <a:rect l="l" t="t" r="r" b="b"/>
            <a:pathLst>
              <a:path h="319911">
                <a:moveTo>
                  <a:pt x="0" y="0"/>
                </a:moveTo>
                <a:lnTo>
                  <a:pt x="0" y="31991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26" name="Freeform 126"/>
          <p:cNvSpPr/>
          <p:nvPr/>
        </p:nvSpPr>
        <p:spPr>
          <a:xfrm>
            <a:off x="10705667" y="8219411"/>
            <a:ext cx="0" cy="311651"/>
          </a:xfrm>
          <a:custGeom>
            <a:avLst/>
            <a:gdLst/>
            <a:ahLst/>
            <a:cxnLst/>
            <a:rect l="l" t="t" r="r" b="b"/>
            <a:pathLst>
              <a:path h="311651">
                <a:moveTo>
                  <a:pt x="0" y="0"/>
                </a:moveTo>
                <a:lnTo>
                  <a:pt x="0" y="31165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27" name="Group 127"/>
          <p:cNvGrpSpPr/>
          <p:nvPr/>
        </p:nvGrpSpPr>
        <p:grpSpPr>
          <a:xfrm>
            <a:off x="11374130" y="767831"/>
            <a:ext cx="1196618" cy="221129"/>
            <a:chOff x="0" y="0"/>
            <a:chExt cx="2216714" cy="409638"/>
          </a:xfrm>
        </p:grpSpPr>
        <p:sp>
          <p:nvSpPr>
            <p:cNvPr id="128" name="Freeform 128"/>
            <p:cNvSpPr/>
            <p:nvPr/>
          </p:nvSpPr>
          <p:spPr>
            <a:xfrm>
              <a:off x="0" y="0"/>
              <a:ext cx="2216714" cy="409638"/>
            </a:xfrm>
            <a:custGeom>
              <a:avLst/>
              <a:gdLst/>
              <a:ahLst/>
              <a:cxnLst/>
              <a:rect l="l" t="t" r="r" b="b"/>
              <a:pathLst>
                <a:path w="2216714" h="409638">
                  <a:moveTo>
                    <a:pt x="6470" y="0"/>
                  </a:moveTo>
                  <a:lnTo>
                    <a:pt x="2210244" y="0"/>
                  </a:lnTo>
                  <a:cubicBezTo>
                    <a:pt x="2211960" y="0"/>
                    <a:pt x="2213605" y="682"/>
                    <a:pt x="2214819" y="1895"/>
                  </a:cubicBezTo>
                  <a:cubicBezTo>
                    <a:pt x="2216032" y="3108"/>
                    <a:pt x="2216714" y="4754"/>
                    <a:pt x="2216714" y="6470"/>
                  </a:cubicBezTo>
                  <a:lnTo>
                    <a:pt x="2216714" y="403168"/>
                  </a:lnTo>
                  <a:cubicBezTo>
                    <a:pt x="2216714" y="404884"/>
                    <a:pt x="2216032" y="406530"/>
                    <a:pt x="2214819" y="407743"/>
                  </a:cubicBezTo>
                  <a:cubicBezTo>
                    <a:pt x="2213605" y="408957"/>
                    <a:pt x="2211960" y="409638"/>
                    <a:pt x="2210244" y="409638"/>
                  </a:cubicBezTo>
                  <a:lnTo>
                    <a:pt x="6470" y="409638"/>
                  </a:lnTo>
                  <a:cubicBezTo>
                    <a:pt x="4754" y="409638"/>
                    <a:pt x="3108" y="408957"/>
                    <a:pt x="1895" y="407743"/>
                  </a:cubicBezTo>
                  <a:cubicBezTo>
                    <a:pt x="682" y="406530"/>
                    <a:pt x="0" y="404884"/>
                    <a:pt x="0" y="403168"/>
                  </a:cubicBezTo>
                  <a:lnTo>
                    <a:pt x="0" y="6470"/>
                  </a:lnTo>
                  <a:cubicBezTo>
                    <a:pt x="0" y="4754"/>
                    <a:pt x="682" y="3108"/>
                    <a:pt x="1895" y="1895"/>
                  </a:cubicBezTo>
                  <a:cubicBezTo>
                    <a:pt x="3108" y="682"/>
                    <a:pt x="4754" y="0"/>
                    <a:pt x="6470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0" y="-19050"/>
              <a:ext cx="2216714" cy="428688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Confirm Payment Term</a:t>
              </a:r>
            </a:p>
          </p:txBody>
        </p:sp>
      </p:grpSp>
      <p:sp>
        <p:nvSpPr>
          <p:cNvPr id="130" name="Freeform 130"/>
          <p:cNvSpPr/>
          <p:nvPr/>
        </p:nvSpPr>
        <p:spPr>
          <a:xfrm>
            <a:off x="11025398" y="878396"/>
            <a:ext cx="348731" cy="7793336"/>
          </a:xfrm>
          <a:custGeom>
            <a:avLst/>
            <a:gdLst/>
            <a:ahLst/>
            <a:cxnLst/>
            <a:rect l="l" t="t" r="r" b="b"/>
            <a:pathLst>
              <a:path w="348731" h="7793336">
                <a:moveTo>
                  <a:pt x="0" y="7793335"/>
                </a:moveTo>
                <a:lnTo>
                  <a:pt x="0" y="3925242"/>
                </a:lnTo>
                <a:cubicBezTo>
                  <a:pt x="0" y="3917664"/>
                  <a:pt x="3011" y="3910395"/>
                  <a:pt x="8370" y="3905036"/>
                </a:cubicBezTo>
                <a:cubicBezTo>
                  <a:pt x="13729" y="3899678"/>
                  <a:pt x="20997" y="3896667"/>
                  <a:pt x="28575" y="3896667"/>
                </a:cubicBezTo>
                <a:lnTo>
                  <a:pt x="320157" y="3896667"/>
                </a:lnTo>
                <a:cubicBezTo>
                  <a:pt x="327735" y="3896667"/>
                  <a:pt x="335003" y="3893657"/>
                  <a:pt x="340363" y="3888298"/>
                </a:cubicBezTo>
                <a:cubicBezTo>
                  <a:pt x="345721" y="3882939"/>
                  <a:pt x="348732" y="3875671"/>
                  <a:pt x="348732" y="3868092"/>
                </a:cubicBezTo>
                <a:lnTo>
                  <a:pt x="348732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1" name="Freeform 131"/>
          <p:cNvSpPr/>
          <p:nvPr/>
        </p:nvSpPr>
        <p:spPr>
          <a:xfrm>
            <a:off x="11025398" y="878396"/>
            <a:ext cx="348731" cy="6826040"/>
          </a:xfrm>
          <a:custGeom>
            <a:avLst/>
            <a:gdLst/>
            <a:ahLst/>
            <a:cxnLst/>
            <a:rect l="l" t="t" r="r" b="b"/>
            <a:pathLst>
              <a:path w="348731" h="6826040">
                <a:moveTo>
                  <a:pt x="0" y="6826039"/>
                </a:moveTo>
                <a:lnTo>
                  <a:pt x="0" y="3441595"/>
                </a:lnTo>
                <a:cubicBezTo>
                  <a:pt x="0" y="3425813"/>
                  <a:pt x="12794" y="3413020"/>
                  <a:pt x="28575" y="3413020"/>
                </a:cubicBezTo>
                <a:lnTo>
                  <a:pt x="320157" y="3413020"/>
                </a:lnTo>
                <a:cubicBezTo>
                  <a:pt x="335938" y="3413020"/>
                  <a:pt x="348732" y="3400226"/>
                  <a:pt x="348732" y="3384445"/>
                </a:cubicBezTo>
                <a:lnTo>
                  <a:pt x="348732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2" name="Freeform 132"/>
          <p:cNvSpPr/>
          <p:nvPr/>
        </p:nvSpPr>
        <p:spPr>
          <a:xfrm>
            <a:off x="11025398" y="878396"/>
            <a:ext cx="348731" cy="5779569"/>
          </a:xfrm>
          <a:custGeom>
            <a:avLst/>
            <a:gdLst/>
            <a:ahLst/>
            <a:cxnLst/>
            <a:rect l="l" t="t" r="r" b="b"/>
            <a:pathLst>
              <a:path w="348731" h="5779569">
                <a:moveTo>
                  <a:pt x="0" y="5779568"/>
                </a:moveTo>
                <a:lnTo>
                  <a:pt x="0" y="2918359"/>
                </a:lnTo>
                <a:cubicBezTo>
                  <a:pt x="0" y="2902577"/>
                  <a:pt x="12794" y="2889784"/>
                  <a:pt x="28575" y="2889784"/>
                </a:cubicBezTo>
                <a:lnTo>
                  <a:pt x="320157" y="2889784"/>
                </a:lnTo>
                <a:cubicBezTo>
                  <a:pt x="335938" y="2889784"/>
                  <a:pt x="348732" y="2876990"/>
                  <a:pt x="348732" y="2861209"/>
                </a:cubicBezTo>
                <a:lnTo>
                  <a:pt x="348732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3" name="Freeform 133"/>
          <p:cNvSpPr/>
          <p:nvPr/>
        </p:nvSpPr>
        <p:spPr>
          <a:xfrm>
            <a:off x="11025398" y="878396"/>
            <a:ext cx="348731" cy="2268462"/>
          </a:xfrm>
          <a:custGeom>
            <a:avLst/>
            <a:gdLst/>
            <a:ahLst/>
            <a:cxnLst/>
            <a:rect l="l" t="t" r="r" b="b"/>
            <a:pathLst>
              <a:path w="348731" h="2268462">
                <a:moveTo>
                  <a:pt x="0" y="2268461"/>
                </a:moveTo>
                <a:lnTo>
                  <a:pt x="0" y="1162805"/>
                </a:lnTo>
                <a:cubicBezTo>
                  <a:pt x="0" y="1147024"/>
                  <a:pt x="12794" y="1134230"/>
                  <a:pt x="28575" y="1134230"/>
                </a:cubicBezTo>
                <a:lnTo>
                  <a:pt x="320157" y="1134230"/>
                </a:lnTo>
                <a:cubicBezTo>
                  <a:pt x="335938" y="1134230"/>
                  <a:pt x="348732" y="1121437"/>
                  <a:pt x="348732" y="1105655"/>
                </a:cubicBezTo>
                <a:lnTo>
                  <a:pt x="348732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4" name="Freeform 134"/>
          <p:cNvSpPr/>
          <p:nvPr/>
        </p:nvSpPr>
        <p:spPr>
          <a:xfrm>
            <a:off x="11025398" y="878396"/>
            <a:ext cx="348731" cy="3489995"/>
          </a:xfrm>
          <a:custGeom>
            <a:avLst/>
            <a:gdLst/>
            <a:ahLst/>
            <a:cxnLst/>
            <a:rect l="l" t="t" r="r" b="b"/>
            <a:pathLst>
              <a:path w="348731" h="3489995">
                <a:moveTo>
                  <a:pt x="0" y="3489995"/>
                </a:moveTo>
                <a:lnTo>
                  <a:pt x="0" y="1773572"/>
                </a:lnTo>
                <a:cubicBezTo>
                  <a:pt x="0" y="1757791"/>
                  <a:pt x="12794" y="1744997"/>
                  <a:pt x="28575" y="1744997"/>
                </a:cubicBezTo>
                <a:lnTo>
                  <a:pt x="320157" y="1744997"/>
                </a:lnTo>
                <a:cubicBezTo>
                  <a:pt x="335938" y="1744997"/>
                  <a:pt x="348732" y="1732204"/>
                  <a:pt x="348732" y="1716422"/>
                </a:cubicBezTo>
                <a:lnTo>
                  <a:pt x="348732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5" name="Freeform 135"/>
          <p:cNvSpPr/>
          <p:nvPr/>
        </p:nvSpPr>
        <p:spPr>
          <a:xfrm>
            <a:off x="11025398" y="878396"/>
            <a:ext cx="348731" cy="4505544"/>
          </a:xfrm>
          <a:custGeom>
            <a:avLst/>
            <a:gdLst/>
            <a:ahLst/>
            <a:cxnLst/>
            <a:rect l="l" t="t" r="r" b="b"/>
            <a:pathLst>
              <a:path w="348731" h="4505544">
                <a:moveTo>
                  <a:pt x="0" y="4505543"/>
                </a:moveTo>
                <a:lnTo>
                  <a:pt x="0" y="2281346"/>
                </a:lnTo>
                <a:cubicBezTo>
                  <a:pt x="0" y="2265565"/>
                  <a:pt x="12794" y="2252771"/>
                  <a:pt x="28575" y="2252771"/>
                </a:cubicBezTo>
                <a:lnTo>
                  <a:pt x="320157" y="2252771"/>
                </a:lnTo>
                <a:cubicBezTo>
                  <a:pt x="335938" y="2252771"/>
                  <a:pt x="348732" y="2239978"/>
                  <a:pt x="348732" y="2224196"/>
                </a:cubicBezTo>
                <a:lnTo>
                  <a:pt x="348732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36" name="Group 136"/>
          <p:cNvGrpSpPr/>
          <p:nvPr/>
        </p:nvGrpSpPr>
        <p:grpSpPr>
          <a:xfrm>
            <a:off x="12751324" y="739378"/>
            <a:ext cx="1132796" cy="278368"/>
            <a:chOff x="0" y="0"/>
            <a:chExt cx="2098484" cy="515671"/>
          </a:xfrm>
        </p:grpSpPr>
        <p:sp>
          <p:nvSpPr>
            <p:cNvPr id="137" name="Freeform 137"/>
            <p:cNvSpPr/>
            <p:nvPr/>
          </p:nvSpPr>
          <p:spPr>
            <a:xfrm>
              <a:off x="0" y="0"/>
              <a:ext cx="2098484" cy="515671"/>
            </a:xfrm>
            <a:custGeom>
              <a:avLst/>
              <a:gdLst/>
              <a:ahLst/>
              <a:cxnLst/>
              <a:rect l="l" t="t" r="r" b="b"/>
              <a:pathLst>
                <a:path w="2098484" h="515671">
                  <a:moveTo>
                    <a:pt x="6834" y="0"/>
                  </a:moveTo>
                  <a:lnTo>
                    <a:pt x="2091650" y="0"/>
                  </a:lnTo>
                  <a:cubicBezTo>
                    <a:pt x="2095424" y="0"/>
                    <a:pt x="2098484" y="3060"/>
                    <a:pt x="2098484" y="6834"/>
                  </a:cubicBezTo>
                  <a:lnTo>
                    <a:pt x="2098484" y="508837"/>
                  </a:lnTo>
                  <a:cubicBezTo>
                    <a:pt x="2098484" y="512611"/>
                    <a:pt x="2095424" y="515671"/>
                    <a:pt x="2091650" y="515671"/>
                  </a:cubicBezTo>
                  <a:lnTo>
                    <a:pt x="6834" y="515671"/>
                  </a:lnTo>
                  <a:cubicBezTo>
                    <a:pt x="5022" y="515671"/>
                    <a:pt x="3283" y="514951"/>
                    <a:pt x="2002" y="513670"/>
                  </a:cubicBezTo>
                  <a:cubicBezTo>
                    <a:pt x="720" y="512388"/>
                    <a:pt x="0" y="510649"/>
                    <a:pt x="0" y="508837"/>
                  </a:cubicBezTo>
                  <a:lnTo>
                    <a:pt x="0" y="6834"/>
                  </a:lnTo>
                  <a:cubicBezTo>
                    <a:pt x="0" y="3060"/>
                    <a:pt x="3060" y="0"/>
                    <a:pt x="6834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0" y="-19050"/>
              <a:ext cx="2098484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Send Contract For Client Signature</a:t>
              </a:r>
            </a:p>
          </p:txBody>
        </p:sp>
      </p:grpSp>
      <p:sp>
        <p:nvSpPr>
          <p:cNvPr id="139" name="Freeform 139"/>
          <p:cNvSpPr/>
          <p:nvPr/>
        </p:nvSpPr>
        <p:spPr>
          <a:xfrm>
            <a:off x="12570748" y="878396"/>
            <a:ext cx="180576" cy="166"/>
          </a:xfrm>
          <a:custGeom>
            <a:avLst/>
            <a:gdLst/>
            <a:ahLst/>
            <a:cxnLst/>
            <a:rect l="l" t="t" r="r" b="b"/>
            <a:pathLst>
              <a:path w="180576" h="166">
                <a:moveTo>
                  <a:pt x="0" y="0"/>
                </a:moveTo>
                <a:lnTo>
                  <a:pt x="90205" y="0"/>
                </a:lnTo>
                <a:cubicBezTo>
                  <a:pt x="90251" y="0"/>
                  <a:pt x="90288" y="37"/>
                  <a:pt x="90288" y="83"/>
                </a:cubicBezTo>
                <a:lnTo>
                  <a:pt x="90288" y="83"/>
                </a:lnTo>
                <a:cubicBezTo>
                  <a:pt x="90288" y="129"/>
                  <a:pt x="90325" y="166"/>
                  <a:pt x="90371" y="166"/>
                </a:cubicBezTo>
                <a:lnTo>
                  <a:pt x="180576" y="166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0" name="Group 140"/>
          <p:cNvGrpSpPr/>
          <p:nvPr/>
        </p:nvGrpSpPr>
        <p:grpSpPr>
          <a:xfrm>
            <a:off x="14055185" y="767831"/>
            <a:ext cx="1171029" cy="221129"/>
            <a:chOff x="0" y="0"/>
            <a:chExt cx="2169311" cy="409638"/>
          </a:xfrm>
        </p:grpSpPr>
        <p:sp>
          <p:nvSpPr>
            <p:cNvPr id="141" name="Freeform 141"/>
            <p:cNvSpPr/>
            <p:nvPr/>
          </p:nvSpPr>
          <p:spPr>
            <a:xfrm>
              <a:off x="0" y="0"/>
              <a:ext cx="2169311" cy="409638"/>
            </a:xfrm>
            <a:custGeom>
              <a:avLst/>
              <a:gdLst/>
              <a:ahLst/>
              <a:cxnLst/>
              <a:rect l="l" t="t" r="r" b="b"/>
              <a:pathLst>
                <a:path w="2169311" h="409638">
                  <a:moveTo>
                    <a:pt x="6611" y="0"/>
                  </a:moveTo>
                  <a:lnTo>
                    <a:pt x="2162700" y="0"/>
                  </a:lnTo>
                  <a:cubicBezTo>
                    <a:pt x="2164454" y="0"/>
                    <a:pt x="2166135" y="697"/>
                    <a:pt x="2167375" y="1936"/>
                  </a:cubicBezTo>
                  <a:cubicBezTo>
                    <a:pt x="2168615" y="3176"/>
                    <a:pt x="2169311" y="4858"/>
                    <a:pt x="2169311" y="6611"/>
                  </a:cubicBezTo>
                  <a:lnTo>
                    <a:pt x="2169311" y="403027"/>
                  </a:lnTo>
                  <a:cubicBezTo>
                    <a:pt x="2169311" y="406678"/>
                    <a:pt x="2166351" y="409638"/>
                    <a:pt x="2162700" y="409638"/>
                  </a:cubicBezTo>
                  <a:lnTo>
                    <a:pt x="6611" y="409638"/>
                  </a:lnTo>
                  <a:cubicBezTo>
                    <a:pt x="2960" y="409638"/>
                    <a:pt x="0" y="406678"/>
                    <a:pt x="0" y="403027"/>
                  </a:cubicBezTo>
                  <a:lnTo>
                    <a:pt x="0" y="6611"/>
                  </a:lnTo>
                  <a:cubicBezTo>
                    <a:pt x="0" y="2960"/>
                    <a:pt x="2960" y="0"/>
                    <a:pt x="6611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42" name="TextBox 142"/>
            <p:cNvSpPr txBox="1"/>
            <p:nvPr/>
          </p:nvSpPr>
          <p:spPr>
            <a:xfrm>
              <a:off x="0" y="-19050"/>
              <a:ext cx="2169311" cy="428688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Confirm Client has Signed</a:t>
              </a:r>
            </a:p>
          </p:txBody>
        </p:sp>
      </p:grpSp>
      <p:sp>
        <p:nvSpPr>
          <p:cNvPr id="143" name="Freeform 143"/>
          <p:cNvSpPr/>
          <p:nvPr/>
        </p:nvSpPr>
        <p:spPr>
          <a:xfrm>
            <a:off x="13884120" y="878396"/>
            <a:ext cx="171066" cy="166"/>
          </a:xfrm>
          <a:custGeom>
            <a:avLst/>
            <a:gdLst/>
            <a:ahLst/>
            <a:cxnLst/>
            <a:rect l="l" t="t" r="r" b="b"/>
            <a:pathLst>
              <a:path w="171066" h="166">
                <a:moveTo>
                  <a:pt x="0" y="166"/>
                </a:moveTo>
                <a:lnTo>
                  <a:pt x="85449" y="166"/>
                </a:lnTo>
                <a:cubicBezTo>
                  <a:pt x="85496" y="166"/>
                  <a:pt x="85533" y="129"/>
                  <a:pt x="85533" y="83"/>
                </a:cubicBezTo>
                <a:lnTo>
                  <a:pt x="85533" y="83"/>
                </a:lnTo>
                <a:cubicBezTo>
                  <a:pt x="85533" y="61"/>
                  <a:pt x="85542" y="40"/>
                  <a:pt x="85558" y="24"/>
                </a:cubicBezTo>
                <a:cubicBezTo>
                  <a:pt x="85573" y="8"/>
                  <a:pt x="85593" y="0"/>
                  <a:pt x="85616" y="0"/>
                </a:cubicBezTo>
                <a:lnTo>
                  <a:pt x="171065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4" name="Group 144"/>
          <p:cNvGrpSpPr/>
          <p:nvPr/>
        </p:nvGrpSpPr>
        <p:grpSpPr>
          <a:xfrm>
            <a:off x="15732124" y="2112389"/>
            <a:ext cx="1061799" cy="278368"/>
            <a:chOff x="0" y="0"/>
            <a:chExt cx="1966965" cy="515671"/>
          </a:xfrm>
        </p:grpSpPr>
        <p:sp>
          <p:nvSpPr>
            <p:cNvPr id="145" name="Freeform 145"/>
            <p:cNvSpPr/>
            <p:nvPr/>
          </p:nvSpPr>
          <p:spPr>
            <a:xfrm>
              <a:off x="0" y="0"/>
              <a:ext cx="1966965" cy="515671"/>
            </a:xfrm>
            <a:custGeom>
              <a:avLst/>
              <a:gdLst/>
              <a:ahLst/>
              <a:cxnLst/>
              <a:rect l="l" t="t" r="r" b="b"/>
              <a:pathLst>
                <a:path w="1966965" h="515671">
                  <a:moveTo>
                    <a:pt x="7291" y="0"/>
                  </a:moveTo>
                  <a:lnTo>
                    <a:pt x="1959674" y="0"/>
                  </a:lnTo>
                  <a:cubicBezTo>
                    <a:pt x="1961607" y="0"/>
                    <a:pt x="1963462" y="768"/>
                    <a:pt x="1964829" y="2136"/>
                  </a:cubicBezTo>
                  <a:cubicBezTo>
                    <a:pt x="1966197" y="3503"/>
                    <a:pt x="1966965" y="5358"/>
                    <a:pt x="1966965" y="7291"/>
                  </a:cubicBezTo>
                  <a:lnTo>
                    <a:pt x="1966965" y="508380"/>
                  </a:lnTo>
                  <a:cubicBezTo>
                    <a:pt x="1966965" y="510314"/>
                    <a:pt x="1966197" y="512168"/>
                    <a:pt x="1964829" y="513536"/>
                  </a:cubicBezTo>
                  <a:cubicBezTo>
                    <a:pt x="1963462" y="514903"/>
                    <a:pt x="1961607" y="515671"/>
                    <a:pt x="1959674" y="515671"/>
                  </a:cubicBezTo>
                  <a:lnTo>
                    <a:pt x="7291" y="515671"/>
                  </a:lnTo>
                  <a:cubicBezTo>
                    <a:pt x="5358" y="515671"/>
                    <a:pt x="3503" y="514903"/>
                    <a:pt x="2136" y="513536"/>
                  </a:cubicBezTo>
                  <a:cubicBezTo>
                    <a:pt x="768" y="512168"/>
                    <a:pt x="0" y="510314"/>
                    <a:pt x="0" y="508380"/>
                  </a:cubicBezTo>
                  <a:lnTo>
                    <a:pt x="0" y="7291"/>
                  </a:lnTo>
                  <a:cubicBezTo>
                    <a:pt x="0" y="5358"/>
                    <a:pt x="768" y="3503"/>
                    <a:pt x="2136" y="2136"/>
                  </a:cubicBezTo>
                  <a:cubicBezTo>
                    <a:pt x="3503" y="768"/>
                    <a:pt x="5358" y="0"/>
                    <a:pt x="7291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46" name="TextBox 146"/>
            <p:cNvSpPr txBox="1"/>
            <p:nvPr/>
          </p:nvSpPr>
          <p:spPr>
            <a:xfrm>
              <a:off x="0" y="-19050"/>
              <a:ext cx="1966965" cy="534721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Receive and Record Payment</a:t>
              </a:r>
            </a:p>
          </p:txBody>
        </p:sp>
      </p:grpSp>
      <p:sp>
        <p:nvSpPr>
          <p:cNvPr id="147" name="Freeform 147"/>
          <p:cNvSpPr/>
          <p:nvPr/>
        </p:nvSpPr>
        <p:spPr>
          <a:xfrm>
            <a:off x="15226215" y="878396"/>
            <a:ext cx="505910" cy="1373178"/>
          </a:xfrm>
          <a:custGeom>
            <a:avLst/>
            <a:gdLst/>
            <a:ahLst/>
            <a:cxnLst/>
            <a:rect l="l" t="t" r="r" b="b"/>
            <a:pathLst>
              <a:path w="505910" h="1373178">
                <a:moveTo>
                  <a:pt x="0" y="0"/>
                </a:moveTo>
                <a:lnTo>
                  <a:pt x="0" y="83"/>
                </a:lnTo>
                <a:cubicBezTo>
                  <a:pt x="0" y="129"/>
                  <a:pt x="37" y="166"/>
                  <a:pt x="84" y="166"/>
                </a:cubicBezTo>
                <a:lnTo>
                  <a:pt x="477335" y="166"/>
                </a:lnTo>
                <a:cubicBezTo>
                  <a:pt x="484913" y="166"/>
                  <a:pt x="492182" y="3177"/>
                  <a:pt x="497540" y="8535"/>
                </a:cubicBezTo>
                <a:cubicBezTo>
                  <a:pt x="502899" y="13894"/>
                  <a:pt x="505910" y="21162"/>
                  <a:pt x="505910" y="28741"/>
                </a:cubicBezTo>
                <a:lnTo>
                  <a:pt x="505910" y="1373177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48" name="Group 148"/>
          <p:cNvGrpSpPr/>
          <p:nvPr/>
        </p:nvGrpSpPr>
        <p:grpSpPr>
          <a:xfrm>
            <a:off x="17110768" y="2112255"/>
            <a:ext cx="1111828" cy="281339"/>
            <a:chOff x="0" y="0"/>
            <a:chExt cx="2059642" cy="521176"/>
          </a:xfrm>
        </p:grpSpPr>
        <p:sp>
          <p:nvSpPr>
            <p:cNvPr id="149" name="Freeform 149"/>
            <p:cNvSpPr/>
            <p:nvPr/>
          </p:nvSpPr>
          <p:spPr>
            <a:xfrm>
              <a:off x="0" y="0"/>
              <a:ext cx="2059642" cy="521176"/>
            </a:xfrm>
            <a:custGeom>
              <a:avLst/>
              <a:gdLst/>
              <a:ahLst/>
              <a:cxnLst/>
              <a:rect l="l" t="t" r="r" b="b"/>
              <a:pathLst>
                <a:path w="2059642" h="521176">
                  <a:moveTo>
                    <a:pt x="6963" y="0"/>
                  </a:moveTo>
                  <a:lnTo>
                    <a:pt x="2052679" y="0"/>
                  </a:lnTo>
                  <a:cubicBezTo>
                    <a:pt x="2056525" y="0"/>
                    <a:pt x="2059642" y="3118"/>
                    <a:pt x="2059642" y="6963"/>
                  </a:cubicBezTo>
                  <a:lnTo>
                    <a:pt x="2059642" y="514213"/>
                  </a:lnTo>
                  <a:cubicBezTo>
                    <a:pt x="2059642" y="518059"/>
                    <a:pt x="2056525" y="521176"/>
                    <a:pt x="2052679" y="521176"/>
                  </a:cubicBezTo>
                  <a:lnTo>
                    <a:pt x="6963" y="521176"/>
                  </a:lnTo>
                  <a:cubicBezTo>
                    <a:pt x="3118" y="521176"/>
                    <a:pt x="0" y="518059"/>
                    <a:pt x="0" y="514213"/>
                  </a:cubicBezTo>
                  <a:lnTo>
                    <a:pt x="0" y="6963"/>
                  </a:lnTo>
                  <a:cubicBezTo>
                    <a:pt x="0" y="3118"/>
                    <a:pt x="3118" y="0"/>
                    <a:pt x="6963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50" name="TextBox 150"/>
            <p:cNvSpPr txBox="1"/>
            <p:nvPr/>
          </p:nvSpPr>
          <p:spPr>
            <a:xfrm>
              <a:off x="0" y="-19050"/>
              <a:ext cx="2059642" cy="540226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Approve For Preparation</a:t>
              </a:r>
            </a:p>
          </p:txBody>
        </p:sp>
      </p:grpSp>
      <p:sp>
        <p:nvSpPr>
          <p:cNvPr id="151" name="Freeform 151"/>
          <p:cNvSpPr/>
          <p:nvPr/>
        </p:nvSpPr>
        <p:spPr>
          <a:xfrm>
            <a:off x="16793924" y="2251573"/>
            <a:ext cx="316844" cy="1352"/>
          </a:xfrm>
          <a:custGeom>
            <a:avLst/>
            <a:gdLst/>
            <a:ahLst/>
            <a:cxnLst/>
            <a:rect l="l" t="t" r="r" b="b"/>
            <a:pathLst>
              <a:path w="316844" h="1352">
                <a:moveTo>
                  <a:pt x="0" y="0"/>
                </a:moveTo>
                <a:lnTo>
                  <a:pt x="157745" y="0"/>
                </a:lnTo>
                <a:cubicBezTo>
                  <a:pt x="158119" y="0"/>
                  <a:pt x="158421" y="303"/>
                  <a:pt x="158421" y="676"/>
                </a:cubicBezTo>
                <a:lnTo>
                  <a:pt x="158421" y="676"/>
                </a:lnTo>
                <a:cubicBezTo>
                  <a:pt x="158421" y="1049"/>
                  <a:pt x="158723" y="1352"/>
                  <a:pt x="159097" y="1352"/>
                </a:cubicBezTo>
                <a:lnTo>
                  <a:pt x="316844" y="1352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2" name="Freeform 152"/>
          <p:cNvSpPr/>
          <p:nvPr/>
        </p:nvSpPr>
        <p:spPr>
          <a:xfrm>
            <a:off x="7239362" y="4551307"/>
            <a:ext cx="0" cy="395310"/>
          </a:xfrm>
          <a:custGeom>
            <a:avLst/>
            <a:gdLst/>
            <a:ahLst/>
            <a:cxnLst/>
            <a:rect l="l" t="t" r="r" b="b"/>
            <a:pathLst>
              <a:path h="395310">
                <a:moveTo>
                  <a:pt x="0" y="395310"/>
                </a:moveTo>
                <a:lnTo>
                  <a:pt x="0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3" name="Freeform 153"/>
          <p:cNvSpPr/>
          <p:nvPr/>
        </p:nvSpPr>
        <p:spPr>
          <a:xfrm>
            <a:off x="7239362" y="3224476"/>
            <a:ext cx="0" cy="552851"/>
          </a:xfrm>
          <a:custGeom>
            <a:avLst/>
            <a:gdLst/>
            <a:ahLst/>
            <a:cxnLst/>
            <a:rect l="l" t="t" r="r" b="b"/>
            <a:pathLst>
              <a:path h="552851">
                <a:moveTo>
                  <a:pt x="0" y="552851"/>
                </a:moveTo>
                <a:lnTo>
                  <a:pt x="0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4" name="Freeform 154"/>
          <p:cNvSpPr/>
          <p:nvPr/>
        </p:nvSpPr>
        <p:spPr>
          <a:xfrm>
            <a:off x="7239362" y="972260"/>
            <a:ext cx="0" cy="1015544"/>
          </a:xfrm>
          <a:custGeom>
            <a:avLst/>
            <a:gdLst/>
            <a:ahLst/>
            <a:cxnLst/>
            <a:rect l="l" t="t" r="r" b="b"/>
            <a:pathLst>
              <a:path h="1015544">
                <a:moveTo>
                  <a:pt x="0" y="1015543"/>
                </a:moveTo>
                <a:lnTo>
                  <a:pt x="0" y="0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155" name="Group 155"/>
          <p:cNvGrpSpPr/>
          <p:nvPr/>
        </p:nvGrpSpPr>
        <p:grpSpPr>
          <a:xfrm>
            <a:off x="8400428" y="2061901"/>
            <a:ext cx="966548" cy="221129"/>
            <a:chOff x="0" y="0"/>
            <a:chExt cx="1790513" cy="409638"/>
          </a:xfrm>
        </p:grpSpPr>
        <p:sp>
          <p:nvSpPr>
            <p:cNvPr id="156" name="Freeform 156"/>
            <p:cNvSpPr/>
            <p:nvPr/>
          </p:nvSpPr>
          <p:spPr>
            <a:xfrm>
              <a:off x="0" y="0"/>
              <a:ext cx="1790513" cy="409638"/>
            </a:xfrm>
            <a:custGeom>
              <a:avLst/>
              <a:gdLst/>
              <a:ahLst/>
              <a:cxnLst/>
              <a:rect l="l" t="t" r="r" b="b"/>
              <a:pathLst>
                <a:path w="1790513" h="409638">
                  <a:moveTo>
                    <a:pt x="8010" y="0"/>
                  </a:moveTo>
                  <a:lnTo>
                    <a:pt x="1782503" y="0"/>
                  </a:lnTo>
                  <a:cubicBezTo>
                    <a:pt x="1786926" y="0"/>
                    <a:pt x="1790513" y="3586"/>
                    <a:pt x="1790513" y="8010"/>
                  </a:cubicBezTo>
                  <a:lnTo>
                    <a:pt x="1790513" y="401628"/>
                  </a:lnTo>
                  <a:cubicBezTo>
                    <a:pt x="1790513" y="403753"/>
                    <a:pt x="1789669" y="405790"/>
                    <a:pt x="1788167" y="407292"/>
                  </a:cubicBezTo>
                  <a:cubicBezTo>
                    <a:pt x="1786664" y="408794"/>
                    <a:pt x="1784627" y="409638"/>
                    <a:pt x="1782503" y="409638"/>
                  </a:cubicBezTo>
                  <a:lnTo>
                    <a:pt x="8010" y="409638"/>
                  </a:lnTo>
                  <a:cubicBezTo>
                    <a:pt x="3586" y="409638"/>
                    <a:pt x="0" y="406052"/>
                    <a:pt x="0" y="401628"/>
                  </a:cubicBezTo>
                  <a:lnTo>
                    <a:pt x="0" y="8010"/>
                  </a:lnTo>
                  <a:cubicBezTo>
                    <a:pt x="0" y="3586"/>
                    <a:pt x="3586" y="0"/>
                    <a:pt x="8010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57" name="TextBox 157"/>
            <p:cNvSpPr txBox="1"/>
            <p:nvPr/>
          </p:nvSpPr>
          <p:spPr>
            <a:xfrm>
              <a:off x="0" y="-19050"/>
              <a:ext cx="1790513" cy="428688"/>
            </a:xfrm>
            <a:prstGeom prst="rect">
              <a:avLst/>
            </a:prstGeom>
          </p:spPr>
          <p:txBody>
            <a:bodyPr lIns="12852" tIns="12852" rIns="12852" bIns="12852" rtlCol="0" anchor="ctr"/>
            <a:lstStyle/>
            <a:p>
              <a:pPr marL="0" lvl="0" indent="0" algn="ctr">
                <a:lnSpc>
                  <a:spcPts val="991"/>
                </a:lnSpc>
                <a:spcBef>
                  <a:spcPct val="0"/>
                </a:spcBef>
              </a:pPr>
              <a:r>
                <a:rPr lang="en-US" sz="708" b="1">
                  <a:solidFill>
                    <a:srgbClr val="000000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Collect Initial Payment</a:t>
              </a:r>
            </a:p>
          </p:txBody>
        </p:sp>
      </p:grpSp>
      <p:sp>
        <p:nvSpPr>
          <p:cNvPr id="158" name="Freeform 158"/>
          <p:cNvSpPr/>
          <p:nvPr/>
        </p:nvSpPr>
        <p:spPr>
          <a:xfrm>
            <a:off x="8883701" y="1502028"/>
            <a:ext cx="0" cy="529768"/>
          </a:xfrm>
          <a:custGeom>
            <a:avLst/>
            <a:gdLst/>
            <a:ahLst/>
            <a:cxnLst/>
            <a:rect l="l" t="t" r="r" b="b"/>
            <a:pathLst>
              <a:path h="529768">
                <a:moveTo>
                  <a:pt x="0" y="0"/>
                </a:moveTo>
                <a:lnTo>
                  <a:pt x="0" y="529768"/>
                </a:lnTo>
              </a:path>
            </a:pathLst>
          </a:cu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7" y="551421"/>
            <a:ext cx="1305555" cy="990637"/>
            <a:chOff x="0" y="0"/>
            <a:chExt cx="4395192" cy="333501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95192" cy="3335010"/>
            </a:xfrm>
            <a:custGeom>
              <a:avLst/>
              <a:gdLst/>
              <a:ahLst/>
              <a:cxnLst/>
              <a:rect l="l" t="t" r="r" b="b"/>
              <a:pathLst>
                <a:path w="4395192" h="3335010">
                  <a:moveTo>
                    <a:pt x="0" y="0"/>
                  </a:moveTo>
                  <a:lnTo>
                    <a:pt x="4395192" y="0"/>
                  </a:lnTo>
                  <a:lnTo>
                    <a:pt x="4395192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4395192" cy="3363585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marL="0" lvl="1" indent="0" algn="ctr">
                <a:lnSpc>
                  <a:spcPts val="846"/>
                </a:lnSpc>
                <a:spcBef>
                  <a:spcPct val="0"/>
                </a:spcBef>
              </a:pPr>
              <a:r>
                <a:rPr lang="en-US" sz="604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Sales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" y="1635465"/>
            <a:ext cx="1305555" cy="990637"/>
            <a:chOff x="0" y="0"/>
            <a:chExt cx="4395192" cy="333501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95192" cy="3335010"/>
            </a:xfrm>
            <a:custGeom>
              <a:avLst/>
              <a:gdLst/>
              <a:ahLst/>
              <a:cxnLst/>
              <a:rect l="l" t="t" r="r" b="b"/>
              <a:pathLst>
                <a:path w="4395192" h="3335010">
                  <a:moveTo>
                    <a:pt x="0" y="0"/>
                  </a:moveTo>
                  <a:lnTo>
                    <a:pt x="4395192" y="0"/>
                  </a:lnTo>
                  <a:lnTo>
                    <a:pt x="4395192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0" y="-28575"/>
              <a:ext cx="4395192" cy="3363585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marL="0" lvl="1" indent="0" algn="ctr">
                <a:lnSpc>
                  <a:spcPts val="846"/>
                </a:lnSpc>
                <a:spcBef>
                  <a:spcPct val="0"/>
                </a:spcBef>
              </a:pPr>
              <a:r>
                <a:rPr lang="en-US" sz="604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Accounting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7" y="2719510"/>
            <a:ext cx="1305555" cy="990637"/>
            <a:chOff x="0" y="0"/>
            <a:chExt cx="4395192" cy="333501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95192" cy="3335010"/>
            </a:xfrm>
            <a:custGeom>
              <a:avLst/>
              <a:gdLst/>
              <a:ahLst/>
              <a:cxnLst/>
              <a:rect l="l" t="t" r="r" b="b"/>
              <a:pathLst>
                <a:path w="4395192" h="3335010">
                  <a:moveTo>
                    <a:pt x="0" y="0"/>
                  </a:moveTo>
                  <a:lnTo>
                    <a:pt x="4395192" y="0"/>
                  </a:lnTo>
                  <a:lnTo>
                    <a:pt x="4395192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28575"/>
              <a:ext cx="4395192" cy="3363585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marL="0" lvl="1" indent="0" algn="ctr">
                <a:lnSpc>
                  <a:spcPts val="846"/>
                </a:lnSpc>
                <a:spcBef>
                  <a:spcPct val="0"/>
                </a:spcBef>
              </a:pPr>
              <a:r>
                <a:rPr lang="en-US" sz="604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Creative</a:t>
              </a:r>
            </a:p>
          </p:txBody>
        </p:sp>
      </p:grpSp>
      <p:sp>
        <p:nvSpPr>
          <p:cNvPr id="11" name="AutoShape 11"/>
          <p:cNvSpPr/>
          <p:nvPr/>
        </p:nvSpPr>
        <p:spPr>
          <a:xfrm flipV="1">
            <a:off x="17" y="1571232"/>
            <a:ext cx="18287959" cy="17530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AutoShape 12"/>
          <p:cNvSpPr/>
          <p:nvPr/>
        </p:nvSpPr>
        <p:spPr>
          <a:xfrm flipV="1">
            <a:off x="17" y="2644919"/>
            <a:ext cx="18287959" cy="27887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AutoShape 13"/>
          <p:cNvSpPr/>
          <p:nvPr/>
        </p:nvSpPr>
        <p:spPr>
          <a:xfrm flipV="1">
            <a:off x="17" y="3710146"/>
            <a:ext cx="18287959" cy="46704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4" name="Group 14"/>
          <p:cNvGrpSpPr/>
          <p:nvPr/>
        </p:nvGrpSpPr>
        <p:grpSpPr>
          <a:xfrm>
            <a:off x="11045" y="3803736"/>
            <a:ext cx="1305555" cy="990637"/>
            <a:chOff x="0" y="0"/>
            <a:chExt cx="4395192" cy="333501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4395192" cy="3335010"/>
            </a:xfrm>
            <a:custGeom>
              <a:avLst/>
              <a:gdLst/>
              <a:ahLst/>
              <a:cxnLst/>
              <a:rect l="l" t="t" r="r" b="b"/>
              <a:pathLst>
                <a:path w="4395192" h="3335010">
                  <a:moveTo>
                    <a:pt x="0" y="0"/>
                  </a:moveTo>
                  <a:lnTo>
                    <a:pt x="4395192" y="0"/>
                  </a:lnTo>
                  <a:lnTo>
                    <a:pt x="4395192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0" y="-28575"/>
              <a:ext cx="4395192" cy="3363585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marL="0" lvl="1" indent="0" algn="ctr">
                <a:lnSpc>
                  <a:spcPts val="846"/>
                </a:lnSpc>
                <a:spcBef>
                  <a:spcPct val="0"/>
                </a:spcBef>
              </a:pPr>
              <a:r>
                <a:rPr lang="en-US" sz="604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Linen</a:t>
              </a:r>
            </a:p>
          </p:txBody>
        </p:sp>
      </p:grpSp>
      <p:sp>
        <p:nvSpPr>
          <p:cNvPr id="17" name="AutoShape 17"/>
          <p:cNvSpPr/>
          <p:nvPr/>
        </p:nvSpPr>
        <p:spPr>
          <a:xfrm flipV="1">
            <a:off x="11045" y="4794373"/>
            <a:ext cx="18276931" cy="46704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17" y="4887962"/>
            <a:ext cx="1305555" cy="990637"/>
            <a:chOff x="0" y="0"/>
            <a:chExt cx="4395192" cy="333501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395192" cy="3335010"/>
            </a:xfrm>
            <a:custGeom>
              <a:avLst/>
              <a:gdLst/>
              <a:ahLst/>
              <a:cxnLst/>
              <a:rect l="l" t="t" r="r" b="b"/>
              <a:pathLst>
                <a:path w="4395192" h="3335010">
                  <a:moveTo>
                    <a:pt x="0" y="0"/>
                  </a:moveTo>
                  <a:lnTo>
                    <a:pt x="4395192" y="0"/>
                  </a:lnTo>
                  <a:lnTo>
                    <a:pt x="4395192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4395192" cy="3363585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marL="0" lvl="1" indent="0" algn="ctr">
                <a:lnSpc>
                  <a:spcPts val="846"/>
                </a:lnSpc>
                <a:spcBef>
                  <a:spcPct val="0"/>
                </a:spcBef>
              </a:pPr>
              <a:r>
                <a:rPr lang="en-US" sz="604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Stockroom</a:t>
              </a:r>
            </a:p>
          </p:txBody>
        </p:sp>
      </p:grpSp>
      <p:sp>
        <p:nvSpPr>
          <p:cNvPr id="21" name="AutoShape 21"/>
          <p:cNvSpPr/>
          <p:nvPr/>
        </p:nvSpPr>
        <p:spPr>
          <a:xfrm flipV="1">
            <a:off x="17" y="5878599"/>
            <a:ext cx="18287959" cy="46704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" name="Group 22"/>
          <p:cNvGrpSpPr/>
          <p:nvPr/>
        </p:nvGrpSpPr>
        <p:grpSpPr>
          <a:xfrm>
            <a:off x="11045" y="5977637"/>
            <a:ext cx="1305555" cy="990637"/>
            <a:chOff x="0" y="0"/>
            <a:chExt cx="4395192" cy="333501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395192" cy="3335010"/>
            </a:xfrm>
            <a:custGeom>
              <a:avLst/>
              <a:gdLst/>
              <a:ahLst/>
              <a:cxnLst/>
              <a:rect l="l" t="t" r="r" b="b"/>
              <a:pathLst>
                <a:path w="4395192" h="3335010">
                  <a:moveTo>
                    <a:pt x="0" y="0"/>
                  </a:moveTo>
                  <a:lnTo>
                    <a:pt x="4395192" y="0"/>
                  </a:lnTo>
                  <a:lnTo>
                    <a:pt x="4395192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28575"/>
              <a:ext cx="4395192" cy="3363585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marL="0" lvl="1" indent="0" algn="ctr">
                <a:lnSpc>
                  <a:spcPts val="846"/>
                </a:lnSpc>
                <a:spcBef>
                  <a:spcPct val="0"/>
                </a:spcBef>
              </a:pPr>
              <a:r>
                <a:rPr lang="en-US" sz="604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Kitchen</a:t>
              </a:r>
            </a:p>
          </p:txBody>
        </p:sp>
      </p:grpSp>
      <p:sp>
        <p:nvSpPr>
          <p:cNvPr id="25" name="AutoShape 25"/>
          <p:cNvSpPr/>
          <p:nvPr/>
        </p:nvSpPr>
        <p:spPr>
          <a:xfrm flipV="1">
            <a:off x="11045" y="6968274"/>
            <a:ext cx="18276931" cy="46704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6" name="Group 26"/>
          <p:cNvGrpSpPr/>
          <p:nvPr/>
        </p:nvGrpSpPr>
        <p:grpSpPr>
          <a:xfrm>
            <a:off x="11045" y="7067312"/>
            <a:ext cx="1305555" cy="990637"/>
            <a:chOff x="0" y="0"/>
            <a:chExt cx="4395192" cy="333501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395192" cy="3335010"/>
            </a:xfrm>
            <a:custGeom>
              <a:avLst/>
              <a:gdLst/>
              <a:ahLst/>
              <a:cxnLst/>
              <a:rect l="l" t="t" r="r" b="b"/>
              <a:pathLst>
                <a:path w="4395192" h="3335010">
                  <a:moveTo>
                    <a:pt x="0" y="0"/>
                  </a:moveTo>
                  <a:lnTo>
                    <a:pt x="4395192" y="0"/>
                  </a:lnTo>
                  <a:lnTo>
                    <a:pt x="4395192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0" y="-28575"/>
              <a:ext cx="4395192" cy="3363585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marL="0" lvl="1" indent="0" algn="ctr">
                <a:lnSpc>
                  <a:spcPts val="846"/>
                </a:lnSpc>
                <a:spcBef>
                  <a:spcPct val="0"/>
                </a:spcBef>
              </a:pPr>
              <a:r>
                <a:rPr lang="en-US" sz="604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Banquet</a:t>
              </a:r>
            </a:p>
          </p:txBody>
        </p:sp>
      </p:grpSp>
      <p:sp>
        <p:nvSpPr>
          <p:cNvPr id="29" name="AutoShape 29"/>
          <p:cNvSpPr/>
          <p:nvPr/>
        </p:nvSpPr>
        <p:spPr>
          <a:xfrm flipV="1">
            <a:off x="11045" y="8057949"/>
            <a:ext cx="18276931" cy="46704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0" name="Group 30"/>
          <p:cNvGrpSpPr/>
          <p:nvPr/>
        </p:nvGrpSpPr>
        <p:grpSpPr>
          <a:xfrm>
            <a:off x="11045" y="8156987"/>
            <a:ext cx="1305555" cy="990637"/>
            <a:chOff x="0" y="0"/>
            <a:chExt cx="4395192" cy="333501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395192" cy="3335010"/>
            </a:xfrm>
            <a:custGeom>
              <a:avLst/>
              <a:gdLst/>
              <a:ahLst/>
              <a:cxnLst/>
              <a:rect l="l" t="t" r="r" b="b"/>
              <a:pathLst>
                <a:path w="4395192" h="3335010">
                  <a:moveTo>
                    <a:pt x="0" y="0"/>
                  </a:moveTo>
                  <a:lnTo>
                    <a:pt x="4395192" y="0"/>
                  </a:lnTo>
                  <a:lnTo>
                    <a:pt x="4395192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28575"/>
              <a:ext cx="4395192" cy="3363585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marL="0" lvl="1" indent="0" algn="ctr">
                <a:lnSpc>
                  <a:spcPts val="846"/>
                </a:lnSpc>
                <a:spcBef>
                  <a:spcPct val="0"/>
                </a:spcBef>
              </a:pPr>
              <a:r>
                <a:rPr lang="en-US" sz="604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Logistics</a:t>
              </a:r>
            </a:p>
          </p:txBody>
        </p:sp>
      </p:grpSp>
      <p:sp>
        <p:nvSpPr>
          <p:cNvPr id="33" name="AutoShape 33"/>
          <p:cNvSpPr/>
          <p:nvPr/>
        </p:nvSpPr>
        <p:spPr>
          <a:xfrm flipV="1">
            <a:off x="11045" y="9147623"/>
            <a:ext cx="18276931" cy="46704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4" name="Group 34"/>
          <p:cNvGrpSpPr/>
          <p:nvPr/>
        </p:nvGrpSpPr>
        <p:grpSpPr>
          <a:xfrm>
            <a:off x="11045" y="9246662"/>
            <a:ext cx="1305555" cy="990637"/>
            <a:chOff x="0" y="0"/>
            <a:chExt cx="4395192" cy="333501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4395192" cy="3335010"/>
            </a:xfrm>
            <a:custGeom>
              <a:avLst/>
              <a:gdLst/>
              <a:ahLst/>
              <a:cxnLst/>
              <a:rect l="l" t="t" r="r" b="b"/>
              <a:pathLst>
                <a:path w="4395192" h="3335010">
                  <a:moveTo>
                    <a:pt x="0" y="0"/>
                  </a:moveTo>
                  <a:lnTo>
                    <a:pt x="4395192" y="0"/>
                  </a:lnTo>
                  <a:lnTo>
                    <a:pt x="4395192" y="3335010"/>
                  </a:lnTo>
                  <a:lnTo>
                    <a:pt x="0" y="3335010"/>
                  </a:ln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0" y="-28575"/>
              <a:ext cx="4395192" cy="3363585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marL="0" lvl="1" indent="0" algn="ctr">
                <a:lnSpc>
                  <a:spcPts val="846"/>
                </a:lnSpc>
                <a:spcBef>
                  <a:spcPct val="0"/>
                </a:spcBef>
              </a:pPr>
              <a:r>
                <a:rPr lang="en-US" sz="604" spc="-18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Purchasing</a:t>
              </a:r>
            </a:p>
          </p:txBody>
        </p:sp>
      </p:grpSp>
      <p:sp>
        <p:nvSpPr>
          <p:cNvPr id="37" name="AutoShape 37"/>
          <p:cNvSpPr/>
          <p:nvPr/>
        </p:nvSpPr>
        <p:spPr>
          <a:xfrm flipV="1">
            <a:off x="11045" y="10237298"/>
            <a:ext cx="18276931" cy="46704"/>
          </a:xfrm>
          <a:prstGeom prst="line">
            <a:avLst/>
          </a:prstGeom>
          <a:ln w="9525" cap="flat">
            <a:solidFill>
              <a:srgbClr val="929292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8" name="Group 38"/>
          <p:cNvGrpSpPr/>
          <p:nvPr/>
        </p:nvGrpSpPr>
        <p:grpSpPr>
          <a:xfrm>
            <a:off x="1581399" y="891677"/>
            <a:ext cx="430128" cy="310124"/>
            <a:chOff x="0" y="0"/>
            <a:chExt cx="1127317" cy="812800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1127318" cy="812800"/>
            </a:xfrm>
            <a:custGeom>
              <a:avLst/>
              <a:gdLst/>
              <a:ahLst/>
              <a:cxnLst/>
              <a:rect l="l" t="t" r="r" b="b"/>
              <a:pathLst>
                <a:path w="1127318" h="812800">
                  <a:moveTo>
                    <a:pt x="563659" y="0"/>
                  </a:moveTo>
                  <a:cubicBezTo>
                    <a:pt x="252359" y="0"/>
                    <a:pt x="0" y="181951"/>
                    <a:pt x="0" y="406400"/>
                  </a:cubicBezTo>
                  <a:cubicBezTo>
                    <a:pt x="0" y="630849"/>
                    <a:pt x="252359" y="812800"/>
                    <a:pt x="563659" y="812800"/>
                  </a:cubicBezTo>
                  <a:cubicBezTo>
                    <a:pt x="874959" y="812800"/>
                    <a:pt x="1127318" y="630849"/>
                    <a:pt x="1127318" y="406400"/>
                  </a:cubicBezTo>
                  <a:cubicBezTo>
                    <a:pt x="1127318" y="181951"/>
                    <a:pt x="874959" y="0"/>
                    <a:pt x="563659" y="0"/>
                  </a:cubicBezTo>
                  <a:close/>
                </a:path>
              </a:pathLst>
            </a:custGeom>
            <a:solidFill>
              <a:srgbClr val="66B6FF"/>
            </a:solidFill>
            <a:ln cap="sq">
              <a:noFill/>
              <a:prstDash val="solid"/>
              <a:miter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5686" y="57150"/>
              <a:ext cx="915945" cy="679450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algn="ctr">
                <a:lnSpc>
                  <a:spcPts val="987"/>
                </a:lnSpc>
              </a:pPr>
              <a:r>
                <a:rPr lang="en-US" sz="70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Start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2382897" y="940630"/>
            <a:ext cx="765319" cy="278147"/>
            <a:chOff x="0" y="0"/>
            <a:chExt cx="1424549" cy="517736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1424549" cy="517736"/>
            </a:xfrm>
            <a:custGeom>
              <a:avLst/>
              <a:gdLst/>
              <a:ahLst/>
              <a:cxnLst/>
              <a:rect l="l" t="t" r="r" b="b"/>
              <a:pathLst>
                <a:path w="1424549" h="517736">
                  <a:moveTo>
                    <a:pt x="10116" y="0"/>
                  </a:moveTo>
                  <a:lnTo>
                    <a:pt x="1414433" y="0"/>
                  </a:lnTo>
                  <a:cubicBezTo>
                    <a:pt x="1417116" y="0"/>
                    <a:pt x="1419689" y="1066"/>
                    <a:pt x="1421586" y="2963"/>
                  </a:cubicBezTo>
                  <a:cubicBezTo>
                    <a:pt x="1423484" y="4860"/>
                    <a:pt x="1424549" y="7433"/>
                    <a:pt x="1424549" y="10116"/>
                  </a:cubicBezTo>
                  <a:lnTo>
                    <a:pt x="1424549" y="507620"/>
                  </a:lnTo>
                  <a:cubicBezTo>
                    <a:pt x="1424549" y="513207"/>
                    <a:pt x="1420020" y="517736"/>
                    <a:pt x="1414433" y="517736"/>
                  </a:cubicBezTo>
                  <a:lnTo>
                    <a:pt x="10116" y="517736"/>
                  </a:lnTo>
                  <a:cubicBezTo>
                    <a:pt x="7433" y="517736"/>
                    <a:pt x="4860" y="516670"/>
                    <a:pt x="2963" y="514773"/>
                  </a:cubicBezTo>
                  <a:cubicBezTo>
                    <a:pt x="1066" y="512876"/>
                    <a:pt x="0" y="510303"/>
                    <a:pt x="0" y="507620"/>
                  </a:cubicBezTo>
                  <a:lnTo>
                    <a:pt x="0" y="10116"/>
                  </a:lnTo>
                  <a:cubicBezTo>
                    <a:pt x="0" y="7433"/>
                    <a:pt x="1066" y="4860"/>
                    <a:pt x="2963" y="2963"/>
                  </a:cubicBezTo>
                  <a:cubicBezTo>
                    <a:pt x="4860" y="1066"/>
                    <a:pt x="7433" y="0"/>
                    <a:pt x="10116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0" y="-19050"/>
              <a:ext cx="1424549" cy="536786"/>
            </a:xfrm>
            <a:prstGeom prst="rect">
              <a:avLst/>
            </a:prstGeom>
          </p:spPr>
          <p:txBody>
            <a:bodyPr lIns="12791" tIns="12791" rIns="12791" bIns="12791" rtlCol="0" anchor="ctr"/>
            <a:lstStyle/>
            <a:p>
              <a:pPr marL="0" lvl="0" indent="0" algn="ctr">
                <a:lnSpc>
                  <a:spcPts val="987"/>
                </a:lnSpc>
                <a:spcBef>
                  <a:spcPct val="0"/>
                </a:spcBef>
              </a:pPr>
              <a:r>
                <a:rPr lang="en-US" sz="70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Approve for Preparation</a:t>
              </a:r>
            </a:p>
          </p:txBody>
        </p:sp>
      </p:grpSp>
      <p:sp>
        <p:nvSpPr>
          <p:cNvPr id="44" name="AutoShape 44"/>
          <p:cNvSpPr/>
          <p:nvPr/>
        </p:nvSpPr>
        <p:spPr>
          <a:xfrm>
            <a:off x="2011528" y="1049737"/>
            <a:ext cx="371369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45" name="Group 45"/>
          <p:cNvGrpSpPr/>
          <p:nvPr/>
        </p:nvGrpSpPr>
        <p:grpSpPr>
          <a:xfrm>
            <a:off x="11045" y="0"/>
            <a:ext cx="14237126" cy="502255"/>
            <a:chOff x="0" y="0"/>
            <a:chExt cx="26478908" cy="9341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26478908" cy="934120"/>
            </a:xfrm>
            <a:custGeom>
              <a:avLst/>
              <a:gdLst/>
              <a:ahLst/>
              <a:cxnLst/>
              <a:rect l="l" t="t" r="r" b="b"/>
              <a:pathLst>
                <a:path w="26478908" h="934120">
                  <a:moveTo>
                    <a:pt x="0" y="0"/>
                  </a:moveTo>
                  <a:lnTo>
                    <a:pt x="26478908" y="0"/>
                  </a:lnTo>
                  <a:lnTo>
                    <a:pt x="26478908" y="934120"/>
                  </a:lnTo>
                  <a:lnTo>
                    <a:pt x="0" y="934120"/>
                  </a:lnTo>
                  <a:close/>
                </a:path>
              </a:pathLst>
            </a:custGeom>
            <a:gradFill rotWithShape="1">
              <a:gsLst>
                <a:gs pos="0">
                  <a:srgbClr val="E6F3FF">
                    <a:alpha val="100000"/>
                  </a:srgbClr>
                </a:gs>
                <a:gs pos="33333">
                  <a:srgbClr val="C7E4FF">
                    <a:alpha val="100000"/>
                  </a:srgbClr>
                </a:gs>
                <a:gs pos="66667">
                  <a:srgbClr val="8DC8FE">
                    <a:alpha val="100000"/>
                  </a:srgbClr>
                </a:gs>
                <a:gs pos="100000">
                  <a:srgbClr val="64B5FF">
                    <a:alpha val="10000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</p:spPr>
        </p:sp>
        <p:sp>
          <p:nvSpPr>
            <p:cNvPr id="47" name="TextBox 47"/>
            <p:cNvSpPr txBox="1"/>
            <p:nvPr/>
          </p:nvSpPr>
          <p:spPr>
            <a:xfrm>
              <a:off x="0" y="-76200"/>
              <a:ext cx="26478908" cy="1010320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marL="0" lvl="1" indent="0" algn="l">
                <a:lnSpc>
                  <a:spcPts val="2643"/>
                </a:lnSpc>
                <a:spcBef>
                  <a:spcPct val="0"/>
                </a:spcBef>
              </a:pPr>
              <a:r>
                <a:rPr lang="en-US" sz="1888" spc="-56">
                  <a:solidFill>
                    <a:srgbClr val="000000"/>
                  </a:solidFill>
                  <a:latin typeface="Heading Now 71-78"/>
                  <a:ea typeface="Heading Now 71-78"/>
                  <a:cs typeface="Heading Now 71-78"/>
                  <a:sym typeface="Heading Now 71-78"/>
                </a:rPr>
                <a:t>Post-event 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895153" y="3116305"/>
            <a:ext cx="958991" cy="278147"/>
            <a:chOff x="0" y="0"/>
            <a:chExt cx="1785046" cy="517736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785046" cy="517736"/>
            </a:xfrm>
            <a:custGeom>
              <a:avLst/>
              <a:gdLst/>
              <a:ahLst/>
              <a:cxnLst/>
              <a:rect l="l" t="t" r="r" b="b"/>
              <a:pathLst>
                <a:path w="1785046" h="517736">
                  <a:moveTo>
                    <a:pt x="8073" y="0"/>
                  </a:moveTo>
                  <a:lnTo>
                    <a:pt x="1776973" y="0"/>
                  </a:lnTo>
                  <a:cubicBezTo>
                    <a:pt x="1779114" y="0"/>
                    <a:pt x="1781168" y="851"/>
                    <a:pt x="1782681" y="2365"/>
                  </a:cubicBezTo>
                  <a:cubicBezTo>
                    <a:pt x="1784196" y="3878"/>
                    <a:pt x="1785046" y="5932"/>
                    <a:pt x="1785046" y="8073"/>
                  </a:cubicBezTo>
                  <a:lnTo>
                    <a:pt x="1785046" y="509663"/>
                  </a:lnTo>
                  <a:cubicBezTo>
                    <a:pt x="1785046" y="511804"/>
                    <a:pt x="1784196" y="513857"/>
                    <a:pt x="1782681" y="515371"/>
                  </a:cubicBezTo>
                  <a:cubicBezTo>
                    <a:pt x="1781168" y="516885"/>
                    <a:pt x="1779114" y="517736"/>
                    <a:pt x="1776973" y="517736"/>
                  </a:cubicBezTo>
                  <a:lnTo>
                    <a:pt x="8073" y="517736"/>
                  </a:lnTo>
                  <a:cubicBezTo>
                    <a:pt x="5932" y="517736"/>
                    <a:pt x="3878" y="516885"/>
                    <a:pt x="2365" y="515371"/>
                  </a:cubicBezTo>
                  <a:cubicBezTo>
                    <a:pt x="851" y="513857"/>
                    <a:pt x="0" y="511804"/>
                    <a:pt x="0" y="509663"/>
                  </a:cubicBezTo>
                  <a:lnTo>
                    <a:pt x="0" y="8073"/>
                  </a:lnTo>
                  <a:cubicBezTo>
                    <a:pt x="0" y="5932"/>
                    <a:pt x="851" y="3878"/>
                    <a:pt x="2365" y="2365"/>
                  </a:cubicBezTo>
                  <a:cubicBezTo>
                    <a:pt x="3878" y="851"/>
                    <a:pt x="5932" y="0"/>
                    <a:pt x="8073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0" y="-19050"/>
              <a:ext cx="1785046" cy="536786"/>
            </a:xfrm>
            <a:prstGeom prst="rect">
              <a:avLst/>
            </a:prstGeom>
          </p:spPr>
          <p:txBody>
            <a:bodyPr lIns="12791" tIns="12791" rIns="12791" bIns="12791" rtlCol="0" anchor="ctr"/>
            <a:lstStyle/>
            <a:p>
              <a:pPr marL="0" lvl="0" indent="0" algn="ctr">
                <a:lnSpc>
                  <a:spcPts val="987"/>
                </a:lnSpc>
                <a:spcBef>
                  <a:spcPct val="0"/>
                </a:spcBef>
              </a:pPr>
              <a:r>
                <a:rPr lang="en-US" sz="70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Post-Event Check Creative Items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889115" y="4052942"/>
            <a:ext cx="965029" cy="278147"/>
            <a:chOff x="0" y="0"/>
            <a:chExt cx="1796285" cy="517736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796285" cy="517736"/>
            </a:xfrm>
            <a:custGeom>
              <a:avLst/>
              <a:gdLst/>
              <a:ahLst/>
              <a:cxnLst/>
              <a:rect l="l" t="t" r="r" b="b"/>
              <a:pathLst>
                <a:path w="1796285" h="517736">
                  <a:moveTo>
                    <a:pt x="8022" y="0"/>
                  </a:moveTo>
                  <a:lnTo>
                    <a:pt x="1788263" y="0"/>
                  </a:lnTo>
                  <a:cubicBezTo>
                    <a:pt x="1790390" y="0"/>
                    <a:pt x="1792431" y="845"/>
                    <a:pt x="1793935" y="2350"/>
                  </a:cubicBezTo>
                  <a:cubicBezTo>
                    <a:pt x="1795440" y="3854"/>
                    <a:pt x="1796285" y="5895"/>
                    <a:pt x="1796285" y="8022"/>
                  </a:cubicBezTo>
                  <a:lnTo>
                    <a:pt x="1796285" y="509713"/>
                  </a:lnTo>
                  <a:cubicBezTo>
                    <a:pt x="1796285" y="514144"/>
                    <a:pt x="1792693" y="517736"/>
                    <a:pt x="1788263" y="517736"/>
                  </a:cubicBezTo>
                  <a:lnTo>
                    <a:pt x="8022" y="517736"/>
                  </a:lnTo>
                  <a:cubicBezTo>
                    <a:pt x="5895" y="517736"/>
                    <a:pt x="3854" y="516891"/>
                    <a:pt x="2350" y="515386"/>
                  </a:cubicBezTo>
                  <a:cubicBezTo>
                    <a:pt x="845" y="513882"/>
                    <a:pt x="0" y="511841"/>
                    <a:pt x="0" y="509713"/>
                  </a:cubicBezTo>
                  <a:lnTo>
                    <a:pt x="0" y="8022"/>
                  </a:lnTo>
                  <a:cubicBezTo>
                    <a:pt x="0" y="5895"/>
                    <a:pt x="845" y="3854"/>
                    <a:pt x="2350" y="2350"/>
                  </a:cubicBezTo>
                  <a:cubicBezTo>
                    <a:pt x="3854" y="845"/>
                    <a:pt x="5895" y="0"/>
                    <a:pt x="8022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1796285" cy="536786"/>
            </a:xfrm>
            <a:prstGeom prst="rect">
              <a:avLst/>
            </a:prstGeom>
          </p:spPr>
          <p:txBody>
            <a:bodyPr lIns="12791" tIns="12791" rIns="12791" bIns="12791" rtlCol="0" anchor="ctr"/>
            <a:lstStyle/>
            <a:p>
              <a:pPr marL="0" lvl="0" indent="0" algn="ctr">
                <a:lnSpc>
                  <a:spcPts val="987"/>
                </a:lnSpc>
                <a:spcBef>
                  <a:spcPct val="0"/>
                </a:spcBef>
              </a:pPr>
              <a:r>
                <a:rPr lang="en-US" sz="70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Post-Event Check Linen Items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895153" y="5284478"/>
            <a:ext cx="958991" cy="278147"/>
            <a:chOff x="0" y="0"/>
            <a:chExt cx="1785046" cy="517736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785046" cy="517736"/>
            </a:xfrm>
            <a:custGeom>
              <a:avLst/>
              <a:gdLst/>
              <a:ahLst/>
              <a:cxnLst/>
              <a:rect l="l" t="t" r="r" b="b"/>
              <a:pathLst>
                <a:path w="1785046" h="517736">
                  <a:moveTo>
                    <a:pt x="8073" y="0"/>
                  </a:moveTo>
                  <a:lnTo>
                    <a:pt x="1776973" y="0"/>
                  </a:lnTo>
                  <a:cubicBezTo>
                    <a:pt x="1779114" y="0"/>
                    <a:pt x="1781168" y="851"/>
                    <a:pt x="1782681" y="2365"/>
                  </a:cubicBezTo>
                  <a:cubicBezTo>
                    <a:pt x="1784196" y="3878"/>
                    <a:pt x="1785046" y="5932"/>
                    <a:pt x="1785046" y="8073"/>
                  </a:cubicBezTo>
                  <a:lnTo>
                    <a:pt x="1785046" y="509663"/>
                  </a:lnTo>
                  <a:cubicBezTo>
                    <a:pt x="1785046" y="511804"/>
                    <a:pt x="1784196" y="513857"/>
                    <a:pt x="1782681" y="515371"/>
                  </a:cubicBezTo>
                  <a:cubicBezTo>
                    <a:pt x="1781168" y="516885"/>
                    <a:pt x="1779114" y="517736"/>
                    <a:pt x="1776973" y="517736"/>
                  </a:cubicBezTo>
                  <a:lnTo>
                    <a:pt x="8073" y="517736"/>
                  </a:lnTo>
                  <a:cubicBezTo>
                    <a:pt x="5932" y="517736"/>
                    <a:pt x="3878" y="516885"/>
                    <a:pt x="2365" y="515371"/>
                  </a:cubicBezTo>
                  <a:cubicBezTo>
                    <a:pt x="851" y="513857"/>
                    <a:pt x="0" y="511804"/>
                    <a:pt x="0" y="509663"/>
                  </a:cubicBezTo>
                  <a:lnTo>
                    <a:pt x="0" y="8073"/>
                  </a:lnTo>
                  <a:cubicBezTo>
                    <a:pt x="0" y="5932"/>
                    <a:pt x="851" y="3878"/>
                    <a:pt x="2365" y="2365"/>
                  </a:cubicBezTo>
                  <a:cubicBezTo>
                    <a:pt x="3878" y="851"/>
                    <a:pt x="5932" y="0"/>
                    <a:pt x="8073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0" y="-19050"/>
              <a:ext cx="1785046" cy="536786"/>
            </a:xfrm>
            <a:prstGeom prst="rect">
              <a:avLst/>
            </a:prstGeom>
          </p:spPr>
          <p:txBody>
            <a:bodyPr lIns="12791" tIns="12791" rIns="12791" bIns="12791" rtlCol="0" anchor="ctr"/>
            <a:lstStyle/>
            <a:p>
              <a:pPr marL="0" lvl="0" indent="0" algn="ctr">
                <a:lnSpc>
                  <a:spcPts val="987"/>
                </a:lnSpc>
                <a:spcBef>
                  <a:spcPct val="0"/>
                </a:spcBef>
              </a:pPr>
              <a:r>
                <a:rPr lang="en-US" sz="70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Post-Event Check Stockroom Items</a:t>
              </a:r>
            </a:p>
          </p:txBody>
        </p:sp>
      </p:grpSp>
      <p:sp>
        <p:nvSpPr>
          <p:cNvPr id="57" name="AutoShape 57"/>
          <p:cNvSpPr/>
          <p:nvPr/>
        </p:nvSpPr>
        <p:spPr>
          <a:xfrm>
            <a:off x="3593361" y="3252380"/>
            <a:ext cx="301792" cy="2998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58" name="AutoShape 58"/>
          <p:cNvSpPr/>
          <p:nvPr/>
        </p:nvSpPr>
        <p:spPr>
          <a:xfrm>
            <a:off x="3148216" y="1049737"/>
            <a:ext cx="445144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9" name="AutoShape 59"/>
          <p:cNvSpPr/>
          <p:nvPr/>
        </p:nvSpPr>
        <p:spPr>
          <a:xfrm flipV="1">
            <a:off x="3593923" y="1049737"/>
            <a:ext cx="2764" cy="7602568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0" name="AutoShape 60"/>
          <p:cNvSpPr/>
          <p:nvPr/>
        </p:nvSpPr>
        <p:spPr>
          <a:xfrm>
            <a:off x="3593361" y="4189018"/>
            <a:ext cx="295754" cy="2998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61" name="AutoShape 61"/>
          <p:cNvSpPr/>
          <p:nvPr/>
        </p:nvSpPr>
        <p:spPr>
          <a:xfrm>
            <a:off x="3593923" y="5423551"/>
            <a:ext cx="352154" cy="13458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2" name="Group 62"/>
          <p:cNvGrpSpPr/>
          <p:nvPr/>
        </p:nvGrpSpPr>
        <p:grpSpPr>
          <a:xfrm>
            <a:off x="9072685" y="4076207"/>
            <a:ext cx="810889" cy="220073"/>
            <a:chOff x="0" y="0"/>
            <a:chExt cx="1509372" cy="409638"/>
          </a:xfrm>
        </p:grpSpPr>
        <p:sp>
          <p:nvSpPr>
            <p:cNvPr id="63" name="Freeform 63"/>
            <p:cNvSpPr/>
            <p:nvPr/>
          </p:nvSpPr>
          <p:spPr>
            <a:xfrm>
              <a:off x="0" y="0"/>
              <a:ext cx="1509372" cy="409638"/>
            </a:xfrm>
            <a:custGeom>
              <a:avLst/>
              <a:gdLst/>
              <a:ahLst/>
              <a:cxnLst/>
              <a:rect l="l" t="t" r="r" b="b"/>
              <a:pathLst>
                <a:path w="1509372" h="409638">
                  <a:moveTo>
                    <a:pt x="9547" y="0"/>
                  </a:moveTo>
                  <a:lnTo>
                    <a:pt x="1499825" y="0"/>
                  </a:lnTo>
                  <a:cubicBezTo>
                    <a:pt x="1502357" y="0"/>
                    <a:pt x="1504785" y="1006"/>
                    <a:pt x="1506576" y="2796"/>
                  </a:cubicBezTo>
                  <a:cubicBezTo>
                    <a:pt x="1508366" y="4587"/>
                    <a:pt x="1509372" y="7015"/>
                    <a:pt x="1509372" y="9547"/>
                  </a:cubicBezTo>
                  <a:lnTo>
                    <a:pt x="1509372" y="400091"/>
                  </a:lnTo>
                  <a:cubicBezTo>
                    <a:pt x="1509372" y="405364"/>
                    <a:pt x="1505097" y="409638"/>
                    <a:pt x="1499825" y="409638"/>
                  </a:cubicBezTo>
                  <a:lnTo>
                    <a:pt x="9547" y="409638"/>
                  </a:lnTo>
                  <a:cubicBezTo>
                    <a:pt x="4275" y="409638"/>
                    <a:pt x="0" y="405364"/>
                    <a:pt x="0" y="400091"/>
                  </a:cubicBezTo>
                  <a:lnTo>
                    <a:pt x="0" y="9547"/>
                  </a:lnTo>
                  <a:cubicBezTo>
                    <a:pt x="0" y="4275"/>
                    <a:pt x="4275" y="0"/>
                    <a:pt x="9547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0" y="-19050"/>
              <a:ext cx="1509372" cy="428688"/>
            </a:xfrm>
            <a:prstGeom prst="rect">
              <a:avLst/>
            </a:prstGeom>
          </p:spPr>
          <p:txBody>
            <a:bodyPr lIns="12791" tIns="12791" rIns="12791" bIns="12791" rtlCol="0" anchor="ctr"/>
            <a:lstStyle/>
            <a:p>
              <a:pPr marL="0" lvl="0" indent="0" algn="ctr">
                <a:lnSpc>
                  <a:spcPts val="987"/>
                </a:lnSpc>
                <a:spcBef>
                  <a:spcPct val="0"/>
                </a:spcBef>
              </a:pPr>
              <a:r>
                <a:rPr lang="en-US" sz="70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Report Incident</a:t>
              </a:r>
            </a:p>
          </p:txBody>
        </p:sp>
      </p:grpSp>
      <p:sp>
        <p:nvSpPr>
          <p:cNvPr id="65" name="AutoShape 65"/>
          <p:cNvSpPr/>
          <p:nvPr/>
        </p:nvSpPr>
        <p:spPr>
          <a:xfrm flipV="1">
            <a:off x="4865184" y="5423551"/>
            <a:ext cx="1993652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6" name="AutoShape 66"/>
          <p:cNvSpPr/>
          <p:nvPr/>
        </p:nvSpPr>
        <p:spPr>
          <a:xfrm flipV="1">
            <a:off x="4854144" y="4188906"/>
            <a:ext cx="2008143" cy="311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7" name="AutoShape 67"/>
          <p:cNvSpPr/>
          <p:nvPr/>
        </p:nvSpPr>
        <p:spPr>
          <a:xfrm flipV="1">
            <a:off x="6862287" y="4188906"/>
            <a:ext cx="0" cy="1234645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grpSp>
        <p:nvGrpSpPr>
          <p:cNvPr id="68" name="Group 68"/>
          <p:cNvGrpSpPr/>
          <p:nvPr/>
        </p:nvGrpSpPr>
        <p:grpSpPr>
          <a:xfrm>
            <a:off x="6858836" y="3707076"/>
            <a:ext cx="1050088" cy="963661"/>
            <a:chOff x="0" y="0"/>
            <a:chExt cx="3815001" cy="3501009"/>
          </a:xfrm>
        </p:grpSpPr>
        <p:sp>
          <p:nvSpPr>
            <p:cNvPr id="69" name="Freeform 69"/>
            <p:cNvSpPr/>
            <p:nvPr/>
          </p:nvSpPr>
          <p:spPr>
            <a:xfrm>
              <a:off x="3241" y="2870"/>
              <a:ext cx="3808519" cy="3495269"/>
            </a:xfrm>
            <a:custGeom>
              <a:avLst/>
              <a:gdLst/>
              <a:ahLst/>
              <a:cxnLst/>
              <a:rect l="l" t="t" r="r" b="b"/>
              <a:pathLst>
                <a:path w="3808519" h="3495269">
                  <a:moveTo>
                    <a:pt x="1909691" y="2115"/>
                  </a:moveTo>
                  <a:lnTo>
                    <a:pt x="3806328" y="1742650"/>
                  </a:lnTo>
                  <a:cubicBezTo>
                    <a:pt x="3807724" y="1743931"/>
                    <a:pt x="3808519" y="1745739"/>
                    <a:pt x="3808519" y="1747635"/>
                  </a:cubicBezTo>
                  <a:cubicBezTo>
                    <a:pt x="3808519" y="1749530"/>
                    <a:pt x="3807724" y="1751338"/>
                    <a:pt x="3806328" y="1752620"/>
                  </a:cubicBezTo>
                  <a:lnTo>
                    <a:pt x="1909691" y="3493154"/>
                  </a:lnTo>
                  <a:cubicBezTo>
                    <a:pt x="1906619" y="3495974"/>
                    <a:pt x="1901900" y="3495974"/>
                    <a:pt x="1898827" y="3493154"/>
                  </a:cubicBezTo>
                  <a:lnTo>
                    <a:pt x="2191" y="1752620"/>
                  </a:lnTo>
                  <a:cubicBezTo>
                    <a:pt x="795" y="1751338"/>
                    <a:pt x="0" y="1749530"/>
                    <a:pt x="0" y="1747635"/>
                  </a:cubicBezTo>
                  <a:cubicBezTo>
                    <a:pt x="0" y="1745739"/>
                    <a:pt x="795" y="1743931"/>
                    <a:pt x="2191" y="1742650"/>
                  </a:cubicBezTo>
                  <a:lnTo>
                    <a:pt x="1898827" y="2115"/>
                  </a:lnTo>
                  <a:cubicBezTo>
                    <a:pt x="1901900" y="-705"/>
                    <a:pt x="1906619" y="-705"/>
                    <a:pt x="1909691" y="2115"/>
                  </a:cubicBezTo>
                  <a:close/>
                </a:path>
              </a:pathLst>
            </a:custGeom>
            <a:solidFill>
              <a:srgbClr val="0A5CD7"/>
            </a:solidFill>
            <a:ln cap="sq">
              <a:noFill/>
              <a:prstDash val="solid"/>
              <a:miter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655703" y="582686"/>
              <a:ext cx="2503594" cy="2316587"/>
            </a:xfrm>
            <a:prstGeom prst="rect">
              <a:avLst/>
            </a:prstGeom>
          </p:spPr>
          <p:txBody>
            <a:bodyPr lIns="12791" tIns="12791" rIns="12791" bIns="12791" rtlCol="0" anchor="ctr"/>
            <a:lstStyle/>
            <a:p>
              <a:pPr marL="0" lvl="0" indent="0" algn="ctr">
                <a:lnSpc>
                  <a:spcPts val="1180"/>
                </a:lnSpc>
                <a:spcBef>
                  <a:spcPct val="0"/>
                </a:spcBef>
              </a:pPr>
              <a:r>
                <a:rPr lang="en-US" sz="843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Any damage, missing items?</a:t>
              </a:r>
            </a:p>
          </p:txBody>
        </p:sp>
      </p:grpSp>
      <p:sp>
        <p:nvSpPr>
          <p:cNvPr id="71" name="AutoShape 71"/>
          <p:cNvSpPr/>
          <p:nvPr/>
        </p:nvSpPr>
        <p:spPr>
          <a:xfrm flipV="1">
            <a:off x="4854144" y="3252380"/>
            <a:ext cx="2004692" cy="2998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2" name="AutoShape 72"/>
          <p:cNvSpPr/>
          <p:nvPr/>
        </p:nvSpPr>
        <p:spPr>
          <a:xfrm flipV="1">
            <a:off x="6862287" y="3252380"/>
            <a:ext cx="0" cy="936526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3" name="AutoShape 73"/>
          <p:cNvSpPr/>
          <p:nvPr/>
        </p:nvSpPr>
        <p:spPr>
          <a:xfrm flipV="1">
            <a:off x="7905473" y="4186243"/>
            <a:ext cx="1167213" cy="2663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4" name="AutoShape 74"/>
          <p:cNvSpPr/>
          <p:nvPr/>
        </p:nvSpPr>
        <p:spPr>
          <a:xfrm>
            <a:off x="7383880" y="2136779"/>
            <a:ext cx="3844183" cy="2998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5" name="AutoShape 75"/>
          <p:cNvSpPr/>
          <p:nvPr/>
        </p:nvSpPr>
        <p:spPr>
          <a:xfrm>
            <a:off x="12215535" y="2139777"/>
            <a:ext cx="3644057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6" name="AutoShape 76"/>
          <p:cNvSpPr/>
          <p:nvPr/>
        </p:nvSpPr>
        <p:spPr>
          <a:xfrm>
            <a:off x="3593419" y="8649307"/>
            <a:ext cx="267514" cy="2998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77" name="AutoShape 77"/>
          <p:cNvSpPr/>
          <p:nvPr/>
        </p:nvSpPr>
        <p:spPr>
          <a:xfrm>
            <a:off x="10748044" y="2139777"/>
            <a:ext cx="0" cy="2052237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78" name="Group 78"/>
          <p:cNvGrpSpPr/>
          <p:nvPr/>
        </p:nvGrpSpPr>
        <p:grpSpPr>
          <a:xfrm>
            <a:off x="3860932" y="8513232"/>
            <a:ext cx="857709" cy="278147"/>
            <a:chOff x="0" y="0"/>
            <a:chExt cx="1596521" cy="517736"/>
          </a:xfrm>
        </p:grpSpPr>
        <p:sp>
          <p:nvSpPr>
            <p:cNvPr id="79" name="Freeform 79"/>
            <p:cNvSpPr/>
            <p:nvPr/>
          </p:nvSpPr>
          <p:spPr>
            <a:xfrm>
              <a:off x="0" y="0"/>
              <a:ext cx="1596521" cy="517736"/>
            </a:xfrm>
            <a:custGeom>
              <a:avLst/>
              <a:gdLst/>
              <a:ahLst/>
              <a:cxnLst/>
              <a:rect l="l" t="t" r="r" b="b"/>
              <a:pathLst>
                <a:path w="1596521" h="517736">
                  <a:moveTo>
                    <a:pt x="9026" y="0"/>
                  </a:moveTo>
                  <a:lnTo>
                    <a:pt x="1587495" y="0"/>
                  </a:lnTo>
                  <a:cubicBezTo>
                    <a:pt x="1589889" y="0"/>
                    <a:pt x="1592185" y="951"/>
                    <a:pt x="1593878" y="2644"/>
                  </a:cubicBezTo>
                  <a:cubicBezTo>
                    <a:pt x="1595570" y="4336"/>
                    <a:pt x="1596521" y="6632"/>
                    <a:pt x="1596521" y="9026"/>
                  </a:cubicBezTo>
                  <a:lnTo>
                    <a:pt x="1596521" y="508710"/>
                  </a:lnTo>
                  <a:cubicBezTo>
                    <a:pt x="1596521" y="511104"/>
                    <a:pt x="1595570" y="513399"/>
                    <a:pt x="1593878" y="515092"/>
                  </a:cubicBezTo>
                  <a:cubicBezTo>
                    <a:pt x="1592185" y="516785"/>
                    <a:pt x="1589889" y="517736"/>
                    <a:pt x="1587495" y="517736"/>
                  </a:cubicBezTo>
                  <a:lnTo>
                    <a:pt x="9026" y="517736"/>
                  </a:lnTo>
                  <a:cubicBezTo>
                    <a:pt x="6632" y="517736"/>
                    <a:pt x="4336" y="516785"/>
                    <a:pt x="2644" y="515092"/>
                  </a:cubicBezTo>
                  <a:cubicBezTo>
                    <a:pt x="951" y="513399"/>
                    <a:pt x="0" y="511104"/>
                    <a:pt x="0" y="508710"/>
                  </a:cubicBezTo>
                  <a:lnTo>
                    <a:pt x="0" y="9026"/>
                  </a:lnTo>
                  <a:cubicBezTo>
                    <a:pt x="0" y="6632"/>
                    <a:pt x="951" y="4336"/>
                    <a:pt x="2644" y="2644"/>
                  </a:cubicBezTo>
                  <a:cubicBezTo>
                    <a:pt x="4336" y="951"/>
                    <a:pt x="6632" y="0"/>
                    <a:pt x="9026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0" y="-19050"/>
              <a:ext cx="1596521" cy="536786"/>
            </a:xfrm>
            <a:prstGeom prst="rect">
              <a:avLst/>
            </a:prstGeom>
          </p:spPr>
          <p:txBody>
            <a:bodyPr lIns="12791" tIns="12791" rIns="12791" bIns="12791" rtlCol="0" anchor="ctr"/>
            <a:lstStyle/>
            <a:p>
              <a:pPr marL="0" lvl="0" indent="0" algn="ctr">
                <a:lnSpc>
                  <a:spcPts val="987"/>
                </a:lnSpc>
                <a:spcBef>
                  <a:spcPct val="0"/>
                </a:spcBef>
              </a:pPr>
              <a:r>
                <a:rPr lang="en-US" sz="70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Complete Post-Event Transport</a:t>
              </a:r>
            </a:p>
          </p:txBody>
        </p:sp>
      </p:grpSp>
      <p:sp>
        <p:nvSpPr>
          <p:cNvPr id="81" name="AutoShape 81"/>
          <p:cNvSpPr/>
          <p:nvPr/>
        </p:nvSpPr>
        <p:spPr>
          <a:xfrm>
            <a:off x="4718641" y="8652305"/>
            <a:ext cx="6026077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2" name="AutoShape 82"/>
          <p:cNvSpPr/>
          <p:nvPr/>
        </p:nvSpPr>
        <p:spPr>
          <a:xfrm>
            <a:off x="10748044" y="4192016"/>
            <a:ext cx="0" cy="4460289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3" name="AutoShape 83"/>
          <p:cNvSpPr/>
          <p:nvPr/>
        </p:nvSpPr>
        <p:spPr>
          <a:xfrm>
            <a:off x="7387221" y="2130784"/>
            <a:ext cx="0" cy="1547208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84" name="Group 84"/>
          <p:cNvGrpSpPr/>
          <p:nvPr/>
        </p:nvGrpSpPr>
        <p:grpSpPr>
          <a:xfrm>
            <a:off x="15859592" y="2029741"/>
            <a:ext cx="765319" cy="220073"/>
            <a:chOff x="0" y="0"/>
            <a:chExt cx="1424549" cy="409638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1424549" cy="409638"/>
            </a:xfrm>
            <a:custGeom>
              <a:avLst/>
              <a:gdLst/>
              <a:ahLst/>
              <a:cxnLst/>
              <a:rect l="l" t="t" r="r" b="b"/>
              <a:pathLst>
                <a:path w="1424549" h="409638">
                  <a:moveTo>
                    <a:pt x="10116" y="0"/>
                  </a:moveTo>
                  <a:lnTo>
                    <a:pt x="1414433" y="0"/>
                  </a:lnTo>
                  <a:cubicBezTo>
                    <a:pt x="1417116" y="0"/>
                    <a:pt x="1419689" y="1066"/>
                    <a:pt x="1421586" y="2963"/>
                  </a:cubicBezTo>
                  <a:cubicBezTo>
                    <a:pt x="1423484" y="4860"/>
                    <a:pt x="1424549" y="7433"/>
                    <a:pt x="1424549" y="10116"/>
                  </a:cubicBezTo>
                  <a:lnTo>
                    <a:pt x="1424549" y="399522"/>
                  </a:lnTo>
                  <a:cubicBezTo>
                    <a:pt x="1424549" y="402205"/>
                    <a:pt x="1423484" y="404778"/>
                    <a:pt x="1421586" y="406675"/>
                  </a:cubicBezTo>
                  <a:cubicBezTo>
                    <a:pt x="1419689" y="408573"/>
                    <a:pt x="1417116" y="409638"/>
                    <a:pt x="1414433" y="409638"/>
                  </a:cubicBezTo>
                  <a:lnTo>
                    <a:pt x="10116" y="409638"/>
                  </a:lnTo>
                  <a:cubicBezTo>
                    <a:pt x="4529" y="409638"/>
                    <a:pt x="0" y="405109"/>
                    <a:pt x="0" y="399522"/>
                  </a:cubicBezTo>
                  <a:lnTo>
                    <a:pt x="0" y="10116"/>
                  </a:lnTo>
                  <a:cubicBezTo>
                    <a:pt x="0" y="7433"/>
                    <a:pt x="1066" y="4860"/>
                    <a:pt x="2963" y="2963"/>
                  </a:cubicBezTo>
                  <a:cubicBezTo>
                    <a:pt x="4860" y="1066"/>
                    <a:pt x="7433" y="0"/>
                    <a:pt x="10116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0" y="-19050"/>
              <a:ext cx="1424549" cy="428688"/>
            </a:xfrm>
            <a:prstGeom prst="rect">
              <a:avLst/>
            </a:prstGeom>
          </p:spPr>
          <p:txBody>
            <a:bodyPr lIns="12791" tIns="12791" rIns="12791" bIns="12791" rtlCol="0" anchor="ctr"/>
            <a:lstStyle/>
            <a:p>
              <a:pPr marL="0" lvl="0" indent="0" algn="ctr">
                <a:lnSpc>
                  <a:spcPts val="987"/>
                </a:lnSpc>
                <a:spcBef>
                  <a:spcPct val="0"/>
                </a:spcBef>
              </a:pPr>
              <a:r>
                <a:rPr lang="en-US" sz="70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Close Contract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9072685" y="3172310"/>
            <a:ext cx="919118" cy="220073"/>
            <a:chOff x="0" y="0"/>
            <a:chExt cx="1710826" cy="40963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710826" cy="409638"/>
            </a:xfrm>
            <a:custGeom>
              <a:avLst/>
              <a:gdLst/>
              <a:ahLst/>
              <a:cxnLst/>
              <a:rect l="l" t="t" r="r" b="b"/>
              <a:pathLst>
                <a:path w="1710826" h="409638">
                  <a:moveTo>
                    <a:pt x="8423" y="0"/>
                  </a:moveTo>
                  <a:lnTo>
                    <a:pt x="1702403" y="0"/>
                  </a:lnTo>
                  <a:cubicBezTo>
                    <a:pt x="1704637" y="0"/>
                    <a:pt x="1706779" y="887"/>
                    <a:pt x="1708359" y="2467"/>
                  </a:cubicBezTo>
                  <a:cubicBezTo>
                    <a:pt x="1709939" y="4047"/>
                    <a:pt x="1710826" y="6189"/>
                    <a:pt x="1710826" y="8423"/>
                  </a:cubicBezTo>
                  <a:lnTo>
                    <a:pt x="1710826" y="401215"/>
                  </a:lnTo>
                  <a:cubicBezTo>
                    <a:pt x="1710826" y="405867"/>
                    <a:pt x="1707055" y="409638"/>
                    <a:pt x="1702403" y="409638"/>
                  </a:cubicBezTo>
                  <a:lnTo>
                    <a:pt x="8423" y="409638"/>
                  </a:lnTo>
                  <a:cubicBezTo>
                    <a:pt x="3771" y="409638"/>
                    <a:pt x="0" y="405867"/>
                    <a:pt x="0" y="401215"/>
                  </a:cubicBezTo>
                  <a:lnTo>
                    <a:pt x="0" y="8423"/>
                  </a:lnTo>
                  <a:cubicBezTo>
                    <a:pt x="0" y="3771"/>
                    <a:pt x="3771" y="0"/>
                    <a:pt x="8423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0" y="-19050"/>
              <a:ext cx="1710826" cy="428688"/>
            </a:xfrm>
            <a:prstGeom prst="rect">
              <a:avLst/>
            </a:prstGeom>
          </p:spPr>
          <p:txBody>
            <a:bodyPr lIns="12791" tIns="12791" rIns="12791" bIns="12791" rtlCol="0" anchor="ctr"/>
            <a:lstStyle/>
            <a:p>
              <a:pPr marL="0" lvl="0" indent="0" algn="ctr">
                <a:lnSpc>
                  <a:spcPts val="987"/>
                </a:lnSpc>
                <a:spcBef>
                  <a:spcPct val="0"/>
                </a:spcBef>
              </a:pPr>
              <a:r>
                <a:rPr lang="en-US" sz="70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Report Incident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7818391" y="2024658"/>
            <a:ext cx="319329" cy="230237"/>
            <a:chOff x="0" y="0"/>
            <a:chExt cx="1127317" cy="812800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1127318" cy="812800"/>
            </a:xfrm>
            <a:custGeom>
              <a:avLst/>
              <a:gdLst/>
              <a:ahLst/>
              <a:cxnLst/>
              <a:rect l="l" t="t" r="r" b="b"/>
              <a:pathLst>
                <a:path w="1127318" h="812800">
                  <a:moveTo>
                    <a:pt x="563659" y="0"/>
                  </a:moveTo>
                  <a:cubicBezTo>
                    <a:pt x="252359" y="0"/>
                    <a:pt x="0" y="181951"/>
                    <a:pt x="0" y="406400"/>
                  </a:cubicBezTo>
                  <a:cubicBezTo>
                    <a:pt x="0" y="630849"/>
                    <a:pt x="252359" y="812800"/>
                    <a:pt x="563659" y="812800"/>
                  </a:cubicBezTo>
                  <a:cubicBezTo>
                    <a:pt x="874959" y="812800"/>
                    <a:pt x="1127318" y="630849"/>
                    <a:pt x="1127318" y="406400"/>
                  </a:cubicBezTo>
                  <a:cubicBezTo>
                    <a:pt x="1127318" y="181951"/>
                    <a:pt x="874959" y="0"/>
                    <a:pt x="563659" y="0"/>
                  </a:cubicBezTo>
                  <a:close/>
                </a:path>
              </a:pathLst>
            </a:custGeom>
            <a:solidFill>
              <a:srgbClr val="0A5CD7"/>
            </a:solidFill>
          </p:spPr>
        </p:sp>
        <p:sp>
          <p:nvSpPr>
            <p:cNvPr id="92" name="TextBox 92"/>
            <p:cNvSpPr txBox="1"/>
            <p:nvPr/>
          </p:nvSpPr>
          <p:spPr>
            <a:xfrm>
              <a:off x="105686" y="57150"/>
              <a:ext cx="915945" cy="679450"/>
            </a:xfrm>
            <a:prstGeom prst="rect">
              <a:avLst/>
            </a:prstGeom>
          </p:spPr>
          <p:txBody>
            <a:bodyPr lIns="6395" tIns="6395" rIns="6395" bIns="6395" rtlCol="0" anchor="ctr"/>
            <a:lstStyle/>
            <a:p>
              <a:pPr algn="ctr">
                <a:lnSpc>
                  <a:spcPts val="987"/>
                </a:lnSpc>
              </a:pPr>
              <a:r>
                <a:rPr lang="en-US" sz="705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End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9053099" y="5108714"/>
            <a:ext cx="881727" cy="220073"/>
            <a:chOff x="0" y="0"/>
            <a:chExt cx="1641229" cy="409638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1641229" cy="409638"/>
            </a:xfrm>
            <a:custGeom>
              <a:avLst/>
              <a:gdLst/>
              <a:ahLst/>
              <a:cxnLst/>
              <a:rect l="l" t="t" r="r" b="b"/>
              <a:pathLst>
                <a:path w="1641229" h="409638">
                  <a:moveTo>
                    <a:pt x="8780" y="0"/>
                  </a:moveTo>
                  <a:lnTo>
                    <a:pt x="1632448" y="0"/>
                  </a:lnTo>
                  <a:cubicBezTo>
                    <a:pt x="1634777" y="0"/>
                    <a:pt x="1637010" y="925"/>
                    <a:pt x="1638657" y="2572"/>
                  </a:cubicBezTo>
                  <a:cubicBezTo>
                    <a:pt x="1640304" y="4218"/>
                    <a:pt x="1641229" y="6452"/>
                    <a:pt x="1641229" y="8780"/>
                  </a:cubicBezTo>
                  <a:lnTo>
                    <a:pt x="1641229" y="400858"/>
                  </a:lnTo>
                  <a:cubicBezTo>
                    <a:pt x="1641229" y="403187"/>
                    <a:pt x="1640304" y="405420"/>
                    <a:pt x="1638657" y="407067"/>
                  </a:cubicBezTo>
                  <a:cubicBezTo>
                    <a:pt x="1637010" y="408713"/>
                    <a:pt x="1634777" y="409638"/>
                    <a:pt x="1632448" y="409638"/>
                  </a:cubicBezTo>
                  <a:lnTo>
                    <a:pt x="8780" y="409638"/>
                  </a:lnTo>
                  <a:cubicBezTo>
                    <a:pt x="6452" y="409638"/>
                    <a:pt x="4218" y="408713"/>
                    <a:pt x="2572" y="407067"/>
                  </a:cubicBezTo>
                  <a:cubicBezTo>
                    <a:pt x="925" y="405420"/>
                    <a:pt x="0" y="403187"/>
                    <a:pt x="0" y="400858"/>
                  </a:cubicBezTo>
                  <a:lnTo>
                    <a:pt x="0" y="8780"/>
                  </a:lnTo>
                  <a:cubicBezTo>
                    <a:pt x="0" y="6452"/>
                    <a:pt x="925" y="4218"/>
                    <a:pt x="2572" y="2572"/>
                  </a:cubicBezTo>
                  <a:cubicBezTo>
                    <a:pt x="4218" y="925"/>
                    <a:pt x="6452" y="0"/>
                    <a:pt x="8780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0" y="-19050"/>
              <a:ext cx="1641229" cy="428688"/>
            </a:xfrm>
            <a:prstGeom prst="rect">
              <a:avLst/>
            </a:prstGeom>
          </p:spPr>
          <p:txBody>
            <a:bodyPr lIns="12791" tIns="12791" rIns="12791" bIns="12791" rtlCol="0" anchor="ctr"/>
            <a:lstStyle/>
            <a:p>
              <a:pPr marL="0" lvl="0" indent="0" algn="ctr">
                <a:lnSpc>
                  <a:spcPts val="987"/>
                </a:lnSpc>
                <a:spcBef>
                  <a:spcPct val="0"/>
                </a:spcBef>
              </a:pPr>
              <a:r>
                <a:rPr lang="en-US" sz="70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Report Incident</a:t>
              </a:r>
            </a:p>
          </p:txBody>
        </p:sp>
      </p:grpSp>
      <p:sp>
        <p:nvSpPr>
          <p:cNvPr id="96" name="AutoShape 96"/>
          <p:cNvSpPr/>
          <p:nvPr/>
        </p:nvSpPr>
        <p:spPr>
          <a:xfrm>
            <a:off x="8326929" y="3280847"/>
            <a:ext cx="794606" cy="1499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7" name="AutoShape 97"/>
          <p:cNvSpPr/>
          <p:nvPr/>
        </p:nvSpPr>
        <p:spPr>
          <a:xfrm>
            <a:off x="8326953" y="5218751"/>
            <a:ext cx="726146" cy="2998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8" name="AutoShape 98"/>
          <p:cNvSpPr/>
          <p:nvPr/>
        </p:nvSpPr>
        <p:spPr>
          <a:xfrm>
            <a:off x="16624911" y="2139777"/>
            <a:ext cx="1193480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99" name="AutoShape 99"/>
          <p:cNvSpPr/>
          <p:nvPr/>
        </p:nvSpPr>
        <p:spPr>
          <a:xfrm flipH="1">
            <a:off x="8326953" y="3280847"/>
            <a:ext cx="0" cy="1937903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0" name="Group 100"/>
          <p:cNvGrpSpPr/>
          <p:nvPr/>
        </p:nvGrpSpPr>
        <p:grpSpPr>
          <a:xfrm>
            <a:off x="11228063" y="2029741"/>
            <a:ext cx="987473" cy="220073"/>
            <a:chOff x="0" y="0"/>
            <a:chExt cx="1838060" cy="409638"/>
          </a:xfrm>
        </p:grpSpPr>
        <p:sp>
          <p:nvSpPr>
            <p:cNvPr id="101" name="Freeform 101"/>
            <p:cNvSpPr/>
            <p:nvPr/>
          </p:nvSpPr>
          <p:spPr>
            <a:xfrm>
              <a:off x="0" y="0"/>
              <a:ext cx="1838060" cy="409638"/>
            </a:xfrm>
            <a:custGeom>
              <a:avLst/>
              <a:gdLst/>
              <a:ahLst/>
              <a:cxnLst/>
              <a:rect l="l" t="t" r="r" b="b"/>
              <a:pathLst>
                <a:path w="1838060" h="409638">
                  <a:moveTo>
                    <a:pt x="7840" y="0"/>
                  </a:moveTo>
                  <a:lnTo>
                    <a:pt x="1830220" y="0"/>
                  </a:lnTo>
                  <a:cubicBezTo>
                    <a:pt x="1834550" y="0"/>
                    <a:pt x="1838060" y="3510"/>
                    <a:pt x="1838060" y="7840"/>
                  </a:cubicBezTo>
                  <a:lnTo>
                    <a:pt x="1838060" y="401798"/>
                  </a:lnTo>
                  <a:cubicBezTo>
                    <a:pt x="1838060" y="406128"/>
                    <a:pt x="1834550" y="409638"/>
                    <a:pt x="1830220" y="409638"/>
                  </a:cubicBezTo>
                  <a:lnTo>
                    <a:pt x="7840" y="409638"/>
                  </a:lnTo>
                  <a:cubicBezTo>
                    <a:pt x="3510" y="409638"/>
                    <a:pt x="0" y="406128"/>
                    <a:pt x="0" y="401798"/>
                  </a:cubicBezTo>
                  <a:lnTo>
                    <a:pt x="0" y="7840"/>
                  </a:lnTo>
                  <a:cubicBezTo>
                    <a:pt x="0" y="3510"/>
                    <a:pt x="3510" y="0"/>
                    <a:pt x="7840" y="0"/>
                  </a:cubicBezTo>
                  <a:close/>
                </a:path>
              </a:pathLst>
            </a:custGeom>
            <a:solidFill>
              <a:srgbClr val="DCEEFF"/>
            </a:solidFill>
            <a:ln cap="sq">
              <a:noFill/>
              <a:prstDash val="solid"/>
              <a:miter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0" y="-19050"/>
              <a:ext cx="1838060" cy="428688"/>
            </a:xfrm>
            <a:prstGeom prst="rect">
              <a:avLst/>
            </a:prstGeom>
          </p:spPr>
          <p:txBody>
            <a:bodyPr lIns="12791" tIns="12791" rIns="12791" bIns="12791" rtlCol="0" anchor="ctr"/>
            <a:lstStyle/>
            <a:p>
              <a:pPr marL="0" lvl="0" indent="0" algn="ctr">
                <a:lnSpc>
                  <a:spcPts val="987"/>
                </a:lnSpc>
                <a:spcBef>
                  <a:spcPct val="0"/>
                </a:spcBef>
              </a:pPr>
              <a:r>
                <a:rPr lang="en-US" sz="705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Checked and Returned</a:t>
              </a:r>
            </a:p>
          </p:txBody>
        </p:sp>
      </p:grpSp>
      <p:sp>
        <p:nvSpPr>
          <p:cNvPr id="103" name="AutoShape 103"/>
          <p:cNvSpPr/>
          <p:nvPr/>
        </p:nvSpPr>
        <p:spPr>
          <a:xfrm>
            <a:off x="9991803" y="3282346"/>
            <a:ext cx="756241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4" name="AutoShape 104"/>
          <p:cNvSpPr/>
          <p:nvPr/>
        </p:nvSpPr>
        <p:spPr>
          <a:xfrm>
            <a:off x="9894965" y="4188906"/>
            <a:ext cx="843100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5" name="AutoShape 105"/>
          <p:cNvSpPr/>
          <p:nvPr/>
        </p:nvSpPr>
        <p:spPr>
          <a:xfrm flipV="1">
            <a:off x="9906345" y="5221749"/>
            <a:ext cx="841699" cy="0"/>
          </a:xfrm>
          <a:prstGeom prst="line">
            <a:avLst/>
          </a:prstGeom>
          <a:ln w="9525" cap="flat">
            <a:solidFill>
              <a:srgbClr val="0A5CD7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0"/>
            <a:ext cx="17566674" cy="10680117"/>
            <a:chOff x="0" y="0"/>
            <a:chExt cx="4626614" cy="2812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26614" cy="2812870"/>
            </a:xfrm>
            <a:custGeom>
              <a:avLst/>
              <a:gdLst/>
              <a:ahLst/>
              <a:cxnLst/>
              <a:rect l="l" t="t" r="r" b="b"/>
              <a:pathLst>
                <a:path w="4626614" h="2812870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1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19881" y="3007153"/>
            <a:ext cx="4691794" cy="469179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88395" y="3045253"/>
            <a:ext cx="2674155" cy="26741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09208" y="6182504"/>
            <a:ext cx="1478343" cy="14783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618154" y="1081375"/>
            <a:ext cx="641146" cy="421628"/>
            <a:chOff x="0" y="0"/>
            <a:chExt cx="854861" cy="562171"/>
          </a:xfrm>
        </p:grpSpPr>
        <p:sp>
          <p:nvSpPr>
            <p:cNvPr id="30" name="AutoShape 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28700" y="8893175"/>
            <a:ext cx="353245" cy="353245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680214" y="8845550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3248288" y="1684810"/>
            <a:ext cx="13127499" cy="7069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sz="134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USER ACCEPTANCE TESTING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9494259" cy="4097485"/>
            <a:chOff x="0" y="0"/>
            <a:chExt cx="2500546" cy="1079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0546" cy="1079173"/>
            </a:xfrm>
            <a:custGeom>
              <a:avLst/>
              <a:gdLst/>
              <a:ahLst/>
              <a:cxnLst/>
              <a:rect l="l" t="t" r="r" b="b"/>
              <a:pathLst>
                <a:path w="2500546" h="1079173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083" cy="2230803"/>
            </a:xfrm>
            <a:custGeom>
              <a:avLst/>
              <a:gdLst/>
              <a:ahLst/>
              <a:cxnLst/>
              <a:rect l="l" t="t" r="r" b="b"/>
              <a:pathLst>
                <a:path w="551083" h="223080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379143" y="398345"/>
            <a:ext cx="6023238" cy="69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UAT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23359" y="4232740"/>
            <a:ext cx="9464641" cy="30971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How was it conducted?</a:t>
            </a:r>
          </a:p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Simulated day-to-day department scenarios</a:t>
            </a:r>
          </a:p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Online evaluation via Google Forms</a:t>
            </a:r>
          </a:p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Role-based access maintained throughout</a:t>
            </a:r>
          </a:p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Respondents</a:t>
            </a:r>
          </a:p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Representatives from all 10 departments</a:t>
            </a:r>
          </a:p>
          <a:p>
            <a:pPr algn="just">
              <a:lnSpc>
                <a:spcPts val="3459"/>
              </a:lnSpc>
            </a:pP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About one-third of the users per department</a:t>
            </a: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6622577" y="1080892"/>
            <a:ext cx="641146" cy="421628"/>
            <a:chOff x="0" y="0"/>
            <a:chExt cx="854861" cy="562171"/>
          </a:xfrm>
        </p:grpSpPr>
        <p:sp>
          <p:nvSpPr>
            <p:cNvPr id="26" name="AutoShape 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028700" y="3244342"/>
            <a:ext cx="6339325" cy="164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ABOUT THE UAT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9494259" cy="4097485"/>
            <a:chOff x="0" y="0"/>
            <a:chExt cx="2500546" cy="1079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0546" cy="1079173"/>
            </a:xfrm>
            <a:custGeom>
              <a:avLst/>
              <a:gdLst/>
              <a:ahLst/>
              <a:cxnLst/>
              <a:rect l="l" t="t" r="r" b="b"/>
              <a:pathLst>
                <a:path w="2500546" h="1079173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083" cy="2230803"/>
            </a:xfrm>
            <a:custGeom>
              <a:avLst/>
              <a:gdLst/>
              <a:ahLst/>
              <a:cxnLst/>
              <a:rect l="l" t="t" r="r" b="b"/>
              <a:pathLst>
                <a:path w="551083" h="223080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379143" y="398345"/>
            <a:ext cx="6023238" cy="69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UAT RESULTS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432402" y="3587350"/>
            <a:ext cx="9464641" cy="39278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9"/>
              </a:lnSpc>
            </a:pPr>
            <a:endParaRPr/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Majority of respondents selected "Strongly Agree" across all evaluation criteria.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System was rated as user-friendly, reliable, and easy to use.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Successfully improved interdepartmental communication and workflow efficiency.</a:t>
            </a:r>
          </a:p>
          <a:p>
            <a:pPr algn="just">
              <a:lnSpc>
                <a:spcPts val="3459"/>
              </a:lnSpc>
            </a:pP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3459"/>
              </a:lnSpc>
            </a:pP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algn="just">
              <a:lnSpc>
                <a:spcPts val="3459"/>
              </a:lnSpc>
            </a:pP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6622577" y="1080892"/>
            <a:ext cx="641146" cy="421628"/>
            <a:chOff x="0" y="0"/>
            <a:chExt cx="854861" cy="562171"/>
          </a:xfrm>
        </p:grpSpPr>
        <p:sp>
          <p:nvSpPr>
            <p:cNvPr id="26" name="AutoShape 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028700" y="3244342"/>
            <a:ext cx="6339325" cy="164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OVERALL FINDINGS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9494259" cy="4097485"/>
            <a:chOff x="0" y="0"/>
            <a:chExt cx="2500546" cy="1079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0546" cy="1079173"/>
            </a:xfrm>
            <a:custGeom>
              <a:avLst/>
              <a:gdLst/>
              <a:ahLst/>
              <a:cxnLst/>
              <a:rect l="l" t="t" r="r" b="b"/>
              <a:pathLst>
                <a:path w="2500546" h="1079173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083" cy="2230803"/>
            </a:xfrm>
            <a:custGeom>
              <a:avLst/>
              <a:gdLst/>
              <a:ahLst/>
              <a:cxnLst/>
              <a:rect l="l" t="t" r="r" b="b"/>
              <a:pathLst>
                <a:path w="551083" h="223080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379143" y="398345"/>
            <a:ext cx="6023238" cy="69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UAT RESULTS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63153" y="3812921"/>
            <a:ext cx="9464641" cy="261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59"/>
              </a:lnSpc>
            </a:pPr>
            <a:endParaRPr/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System Interface &amp; Navigation – </a:t>
            </a: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4.83/5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Daily Task &amp; Interdepartmental Coordination – </a:t>
            </a: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4.83/5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Event Tracking &amp; Progress Monitoring – </a:t>
            </a: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4.74/5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Workflow Clarity – </a:t>
            </a:r>
            <a:r>
              <a:rPr lang="en-US" sz="2471" b="1" spc="74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4.63/5</a:t>
            </a:r>
          </a:p>
          <a:p>
            <a:pPr algn="just">
              <a:lnSpc>
                <a:spcPts val="3459"/>
              </a:lnSpc>
            </a:pPr>
            <a:endParaRPr lang="en-US" sz="2471" b="1" spc="74">
              <a:solidFill>
                <a:srgbClr val="000000"/>
              </a:solidFill>
              <a:latin typeface="Lato Bold"/>
              <a:ea typeface="Lato Bold"/>
              <a:cs typeface="Lato Bold"/>
              <a:sym typeface="Lato Bold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6622577" y="1080892"/>
            <a:ext cx="641146" cy="421628"/>
            <a:chOff x="0" y="0"/>
            <a:chExt cx="854861" cy="562171"/>
          </a:xfrm>
        </p:grpSpPr>
        <p:sp>
          <p:nvSpPr>
            <p:cNvPr id="26" name="AutoShape 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028700" y="3244342"/>
            <a:ext cx="6339325" cy="24453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HIGHEST-RATED CRITERIA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9494259" cy="4097485"/>
            <a:chOff x="0" y="0"/>
            <a:chExt cx="2500546" cy="1079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0546" cy="1079173"/>
            </a:xfrm>
            <a:custGeom>
              <a:avLst/>
              <a:gdLst/>
              <a:ahLst/>
              <a:cxnLst/>
              <a:rect l="l" t="t" r="r" b="b"/>
              <a:pathLst>
                <a:path w="2500546" h="1079173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083" cy="2230803"/>
            </a:xfrm>
            <a:custGeom>
              <a:avLst/>
              <a:gdLst/>
              <a:ahLst/>
              <a:cxnLst/>
              <a:rect l="l" t="t" r="r" b="b"/>
              <a:pathLst>
                <a:path w="551083" h="223080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379143" y="398345"/>
            <a:ext cx="6023238" cy="69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UAT RESULTS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57516" y="4244519"/>
            <a:ext cx="9464641" cy="261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Sales, Banquet, Kitchen, Warehouse, Logistics, Accounting, and other departments were satisfied with their respective modules.</a:t>
            </a: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Users reported no major errors or system crashes during testing.</a:t>
            </a:r>
          </a:p>
          <a:p>
            <a:pPr algn="just">
              <a:lnSpc>
                <a:spcPts val="3459"/>
              </a:lnSpc>
            </a:pP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6622577" y="1080892"/>
            <a:ext cx="641146" cy="421628"/>
            <a:chOff x="0" y="0"/>
            <a:chExt cx="854861" cy="562171"/>
          </a:xfrm>
        </p:grpSpPr>
        <p:sp>
          <p:nvSpPr>
            <p:cNvPr id="26" name="AutoShape 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028700" y="3244342"/>
            <a:ext cx="6339325" cy="164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DEPARTMENT FEEDBACK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831106" y="-2277588"/>
            <a:ext cx="9494259" cy="4097485"/>
            <a:chOff x="0" y="0"/>
            <a:chExt cx="2500546" cy="107917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00546" cy="1079173"/>
            </a:xfrm>
            <a:custGeom>
              <a:avLst/>
              <a:gdLst/>
              <a:ahLst/>
              <a:cxnLst/>
              <a:rect l="l" t="t" r="r" b="b"/>
              <a:pathLst>
                <a:path w="2500546" h="1079173">
                  <a:moveTo>
                    <a:pt x="41587" y="0"/>
                  </a:moveTo>
                  <a:lnTo>
                    <a:pt x="2458959" y="0"/>
                  </a:lnTo>
                  <a:cubicBezTo>
                    <a:pt x="2481926" y="0"/>
                    <a:pt x="2500546" y="18619"/>
                    <a:pt x="2500546" y="41587"/>
                  </a:cubicBezTo>
                  <a:lnTo>
                    <a:pt x="2500546" y="1037586"/>
                  </a:lnTo>
                  <a:cubicBezTo>
                    <a:pt x="2500546" y="1060554"/>
                    <a:pt x="2481926" y="1079173"/>
                    <a:pt x="2458959" y="1079173"/>
                  </a:cubicBezTo>
                  <a:lnTo>
                    <a:pt x="41587" y="1079173"/>
                  </a:lnTo>
                  <a:cubicBezTo>
                    <a:pt x="18619" y="1079173"/>
                    <a:pt x="0" y="1060554"/>
                    <a:pt x="0" y="1037586"/>
                  </a:cubicBezTo>
                  <a:lnTo>
                    <a:pt x="0" y="41587"/>
                  </a:lnTo>
                  <a:cubicBezTo>
                    <a:pt x="0" y="18619"/>
                    <a:pt x="18619" y="0"/>
                    <a:pt x="41587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500546" cy="11172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5400000">
            <a:off x="15576380" y="6141455"/>
            <a:ext cx="2092393" cy="8470080"/>
            <a:chOff x="0" y="0"/>
            <a:chExt cx="551083" cy="22308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51083" cy="2230803"/>
            </a:xfrm>
            <a:custGeom>
              <a:avLst/>
              <a:gdLst/>
              <a:ahLst/>
              <a:cxnLst/>
              <a:rect l="l" t="t" r="r" b="b"/>
              <a:pathLst>
                <a:path w="551083" h="2230803">
                  <a:moveTo>
                    <a:pt x="188702" y="0"/>
                  </a:moveTo>
                  <a:lnTo>
                    <a:pt x="362381" y="0"/>
                  </a:lnTo>
                  <a:cubicBezTo>
                    <a:pt x="466598" y="0"/>
                    <a:pt x="551083" y="84485"/>
                    <a:pt x="551083" y="188702"/>
                  </a:cubicBezTo>
                  <a:lnTo>
                    <a:pt x="551083" y="2042101"/>
                  </a:lnTo>
                  <a:cubicBezTo>
                    <a:pt x="551083" y="2092148"/>
                    <a:pt x="531202" y="2140145"/>
                    <a:pt x="495814" y="2175533"/>
                  </a:cubicBezTo>
                  <a:cubicBezTo>
                    <a:pt x="460425" y="2210922"/>
                    <a:pt x="412428" y="2230803"/>
                    <a:pt x="362381" y="2230803"/>
                  </a:cubicBezTo>
                  <a:lnTo>
                    <a:pt x="188702" y="2230803"/>
                  </a:lnTo>
                  <a:cubicBezTo>
                    <a:pt x="84485" y="2230803"/>
                    <a:pt x="0" y="2146318"/>
                    <a:pt x="0" y="2042101"/>
                  </a:cubicBezTo>
                  <a:lnTo>
                    <a:pt x="0" y="188702"/>
                  </a:lnTo>
                  <a:cubicBezTo>
                    <a:pt x="0" y="84485"/>
                    <a:pt x="84485" y="0"/>
                    <a:pt x="188702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551083" cy="226890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AutoShape 8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AutoShape 9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10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3650"/>
            </a:solidFill>
            <a:ln w="38100" cap="rnd">
              <a:solidFill>
                <a:srgbClr val="893650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9" name="AutoShape 19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26374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0" name="TextBox 20"/>
          <p:cNvSpPr txBox="1"/>
          <p:nvPr/>
        </p:nvSpPr>
        <p:spPr>
          <a:xfrm>
            <a:off x="379143" y="398345"/>
            <a:ext cx="6023238" cy="696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30"/>
              </a:lnSpc>
            </a:pPr>
            <a:r>
              <a:rPr lang="en-US" sz="5230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UAT RESULTS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3650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Contact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657516" y="4244519"/>
            <a:ext cx="9464641" cy="26135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Add Laundry Tracking for Linen inventory.</a:t>
            </a:r>
          </a:p>
          <a:p>
            <a:pPr algn="just">
              <a:lnSpc>
                <a:spcPts val="3459"/>
              </a:lnSpc>
            </a:pP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Improve form visibility through better UI contrast.</a:t>
            </a:r>
          </a:p>
          <a:p>
            <a:pPr algn="just">
              <a:lnSpc>
                <a:spcPts val="3459"/>
              </a:lnSpc>
            </a:pP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marL="533533" lvl="1" indent="-266767" algn="just">
              <a:lnSpc>
                <a:spcPts val="3459"/>
              </a:lnSpc>
              <a:buFont typeface="Arial"/>
              <a:buChar char="•"/>
            </a:pPr>
            <a:r>
              <a:rPr lang="en-US" sz="2471" spc="74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Enhance notifications for pending contracts.</a:t>
            </a:r>
          </a:p>
          <a:p>
            <a:pPr algn="just">
              <a:lnSpc>
                <a:spcPts val="3459"/>
              </a:lnSpc>
            </a:pPr>
            <a:endParaRPr lang="en-US" sz="2471" spc="74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16622577" y="1080892"/>
            <a:ext cx="641146" cy="421628"/>
            <a:chOff x="0" y="0"/>
            <a:chExt cx="854861" cy="562171"/>
          </a:xfrm>
        </p:grpSpPr>
        <p:sp>
          <p:nvSpPr>
            <p:cNvPr id="26" name="AutoShape 26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7" name="AutoShape 27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8" name="AutoShape 28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9" name="AutoShape 29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0" name="AutoShape 30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sp>
        <p:nvSpPr>
          <p:cNvPr id="33" name="TextBox 33"/>
          <p:cNvSpPr txBox="1"/>
          <p:nvPr/>
        </p:nvSpPr>
        <p:spPr>
          <a:xfrm>
            <a:off x="1028700" y="3244342"/>
            <a:ext cx="6705847" cy="16461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81"/>
              </a:lnSpc>
            </a:pPr>
            <a:r>
              <a:rPr lang="en-US" sz="6381" b="1">
                <a:solidFill>
                  <a:srgbClr val="893650"/>
                </a:solidFill>
                <a:latin typeface="Inter Bold"/>
                <a:ea typeface="Inter Bold"/>
                <a:cs typeface="Inter Bold"/>
                <a:sym typeface="Inter Bold"/>
              </a:rPr>
              <a:t>SUGGESTED IMPROVEMENTS</a:t>
            </a:r>
          </a:p>
        </p:txBody>
      </p:sp>
      <p:grpSp>
        <p:nvGrpSpPr>
          <p:cNvPr id="34" name="Group 34"/>
          <p:cNvGrpSpPr/>
          <p:nvPr/>
        </p:nvGrpSpPr>
        <p:grpSpPr>
          <a:xfrm>
            <a:off x="1028700" y="9258300"/>
            <a:ext cx="353245" cy="353245"/>
            <a:chOff x="0" y="0"/>
            <a:chExt cx="812800" cy="812800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6" name="TextBox 3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680214" y="9210675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0"/>
            <a:ext cx="17566674" cy="10680117"/>
            <a:chOff x="0" y="0"/>
            <a:chExt cx="4626614" cy="28128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26614" cy="2812870"/>
            </a:xfrm>
            <a:custGeom>
              <a:avLst/>
              <a:gdLst/>
              <a:ahLst/>
              <a:cxnLst/>
              <a:rect l="l" t="t" r="r" b="b"/>
              <a:pathLst>
                <a:path w="4626614" h="2812870">
                  <a:moveTo>
                    <a:pt x="0" y="0"/>
                  </a:moveTo>
                  <a:lnTo>
                    <a:pt x="4626614" y="0"/>
                  </a:lnTo>
                  <a:lnTo>
                    <a:pt x="4626614" y="2812870"/>
                  </a:lnTo>
                  <a:lnTo>
                    <a:pt x="0" y="2812870"/>
                  </a:lnTo>
                  <a:close/>
                </a:path>
              </a:pathLst>
            </a:custGeom>
            <a:gradFill rotWithShape="1">
              <a:gsLst>
                <a:gs pos="0">
                  <a:srgbClr val="283E51">
                    <a:alpha val="0"/>
                  </a:srgbClr>
                </a:gs>
                <a:gs pos="25000">
                  <a:srgbClr val="321F25">
                    <a:alpha val="77500"/>
                  </a:srgbClr>
                </a:gs>
                <a:gs pos="50000">
                  <a:srgbClr val="3B2028">
                    <a:alpha val="100000"/>
                  </a:srgbClr>
                </a:gs>
                <a:gs pos="75000">
                  <a:srgbClr val="421B27">
                    <a:alpha val="100000"/>
                  </a:srgbClr>
                </a:gs>
                <a:gs pos="100000">
                  <a:srgbClr val="4A1223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26614" cy="285097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2519881" y="3007153"/>
            <a:ext cx="4691794" cy="4691794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4A122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888395" y="3045253"/>
            <a:ext cx="2674155" cy="2674155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475B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2609208" y="6182504"/>
            <a:ext cx="1478343" cy="1478343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>
                <a:alpha val="49804"/>
              </a:srgbClr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4" name="AutoShape 14"/>
          <p:cNvSpPr/>
          <p:nvPr/>
        </p:nvSpPr>
        <p:spPr>
          <a:xfrm>
            <a:off x="16626823" y="1297609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AutoShape 15"/>
          <p:cNvSpPr/>
          <p:nvPr/>
        </p:nvSpPr>
        <p:spPr>
          <a:xfrm>
            <a:off x="16626823" y="1483471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6" name="Group 16"/>
          <p:cNvGrpSpPr/>
          <p:nvPr/>
        </p:nvGrpSpPr>
        <p:grpSpPr>
          <a:xfrm>
            <a:off x="14652888" y="1028700"/>
            <a:ext cx="1568783" cy="474303"/>
            <a:chOff x="0" y="0"/>
            <a:chExt cx="458223" cy="138538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58223" cy="138538"/>
            </a:xfrm>
            <a:custGeom>
              <a:avLst/>
              <a:gdLst/>
              <a:ahLst/>
              <a:cxnLst/>
              <a:rect l="l" t="t" r="r" b="b"/>
              <a:pathLst>
                <a:path w="458223" h="138538">
                  <a:moveTo>
                    <a:pt x="69269" y="0"/>
                  </a:moveTo>
                  <a:lnTo>
                    <a:pt x="388954" y="0"/>
                  </a:lnTo>
                  <a:cubicBezTo>
                    <a:pt x="407325" y="0"/>
                    <a:pt x="424944" y="7298"/>
                    <a:pt x="437935" y="20288"/>
                  </a:cubicBezTo>
                  <a:cubicBezTo>
                    <a:pt x="450925" y="33279"/>
                    <a:pt x="458223" y="50898"/>
                    <a:pt x="458223" y="69269"/>
                  </a:cubicBezTo>
                  <a:lnTo>
                    <a:pt x="458223" y="69269"/>
                  </a:lnTo>
                  <a:cubicBezTo>
                    <a:pt x="458223" y="107526"/>
                    <a:pt x="427210" y="138538"/>
                    <a:pt x="388954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458223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2536360" y="1028700"/>
            <a:ext cx="1706953" cy="474303"/>
            <a:chOff x="0" y="0"/>
            <a:chExt cx="498581" cy="138538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0324582" y="1028700"/>
            <a:ext cx="1706953" cy="474303"/>
            <a:chOff x="0" y="0"/>
            <a:chExt cx="498581" cy="138538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8581" cy="138538"/>
            </a:xfrm>
            <a:custGeom>
              <a:avLst/>
              <a:gdLst/>
              <a:ahLst/>
              <a:cxnLst/>
              <a:rect l="l" t="t" r="r" b="b"/>
              <a:pathLst>
                <a:path w="498581" h="138538">
                  <a:moveTo>
                    <a:pt x="69269" y="0"/>
                  </a:moveTo>
                  <a:lnTo>
                    <a:pt x="429312" y="0"/>
                  </a:lnTo>
                  <a:cubicBezTo>
                    <a:pt x="447683" y="0"/>
                    <a:pt x="465302" y="7298"/>
                    <a:pt x="478293" y="20288"/>
                  </a:cubicBezTo>
                  <a:cubicBezTo>
                    <a:pt x="491283" y="33279"/>
                    <a:pt x="498581" y="50898"/>
                    <a:pt x="498581" y="69269"/>
                  </a:cubicBezTo>
                  <a:lnTo>
                    <a:pt x="498581" y="69269"/>
                  </a:lnTo>
                  <a:cubicBezTo>
                    <a:pt x="498581" y="107526"/>
                    <a:pt x="467568" y="138538"/>
                    <a:pt x="429312" y="138538"/>
                  </a:cubicBezTo>
                  <a:lnTo>
                    <a:pt x="69269" y="138538"/>
                  </a:lnTo>
                  <a:cubicBezTo>
                    <a:pt x="31013" y="138538"/>
                    <a:pt x="0" y="107526"/>
                    <a:pt x="0" y="69269"/>
                  </a:cubicBezTo>
                  <a:lnTo>
                    <a:pt x="0" y="69269"/>
                  </a:lnTo>
                  <a:cubicBezTo>
                    <a:pt x="0" y="31013"/>
                    <a:pt x="31013" y="0"/>
                    <a:pt x="69269" y="0"/>
                  </a:cubicBezTo>
                  <a:close/>
                </a:path>
              </a:pathLst>
            </a:custGeom>
            <a:solidFill>
              <a:srgbClr val="89475B"/>
            </a:solidFill>
            <a:ln w="38100" cap="rnd">
              <a:solidFill>
                <a:srgbClr val="89475B"/>
              </a:solidFill>
              <a:prstDash val="solid"/>
              <a:round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498581" cy="18616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5" name="AutoShape 25"/>
          <p:cNvSpPr/>
          <p:nvPr/>
        </p:nvSpPr>
        <p:spPr>
          <a:xfrm>
            <a:off x="16626823" y="1099942"/>
            <a:ext cx="632477" cy="0"/>
          </a:xfrm>
          <a:prstGeom prst="line">
            <a:avLst/>
          </a:prstGeom>
          <a:ln w="38100" cap="flat">
            <a:solidFill>
              <a:srgbClr val="CBE5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14750543" y="1076878"/>
            <a:ext cx="1373472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Home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2625319" y="1058842"/>
            <a:ext cx="1529035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89475B"/>
                </a:solidFill>
                <a:latin typeface="Canva Sans"/>
                <a:ea typeface="Canva Sans"/>
                <a:cs typeface="Canva Sans"/>
                <a:sym typeface="Canva Sans"/>
              </a:rPr>
              <a:t>Service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65605" y="1083466"/>
            <a:ext cx="1424907" cy="339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7"/>
              </a:lnSpc>
            </a:pPr>
            <a:r>
              <a:rPr lang="en-US" sz="1983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DEMO</a:t>
            </a:r>
          </a:p>
        </p:txBody>
      </p:sp>
      <p:grpSp>
        <p:nvGrpSpPr>
          <p:cNvPr id="29" name="Group 29"/>
          <p:cNvGrpSpPr/>
          <p:nvPr/>
        </p:nvGrpSpPr>
        <p:grpSpPr>
          <a:xfrm>
            <a:off x="16618154" y="1081375"/>
            <a:ext cx="641146" cy="421628"/>
            <a:chOff x="0" y="0"/>
            <a:chExt cx="854861" cy="562171"/>
          </a:xfrm>
        </p:grpSpPr>
        <p:sp>
          <p:nvSpPr>
            <p:cNvPr id="30" name="AutoShape 30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1" name="AutoShape 31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2" name="AutoShape 32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263744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3" name="AutoShape 33"/>
            <p:cNvSpPr/>
            <p:nvPr/>
          </p:nvSpPr>
          <p:spPr>
            <a:xfrm>
              <a:off x="5661" y="288956"/>
              <a:ext cx="843303" cy="0"/>
            </a:xfrm>
            <a:prstGeom prst="line">
              <a:avLst/>
            </a:prstGeom>
            <a:ln w="50800" cap="flat">
              <a:solidFill>
                <a:srgbClr val="CBE5FA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4" name="AutoShape 34"/>
            <p:cNvSpPr/>
            <p:nvPr/>
          </p:nvSpPr>
          <p:spPr>
            <a:xfrm>
              <a:off x="5661" y="536771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5" name="AutoShape 35"/>
            <p:cNvSpPr/>
            <p:nvPr/>
          </p:nvSpPr>
          <p:spPr>
            <a:xfrm>
              <a:off x="5661" y="25400"/>
              <a:ext cx="843303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36" name="AutoShape 36"/>
            <p:cNvSpPr/>
            <p:nvPr/>
          </p:nvSpPr>
          <p:spPr>
            <a:xfrm>
              <a:off x="0" y="288956"/>
              <a:ext cx="854861" cy="0"/>
            </a:xfrm>
            <a:prstGeom prst="line">
              <a:avLst/>
            </a:prstGeom>
            <a:ln w="50800" cap="flat">
              <a:solidFill>
                <a:srgbClr val="89475B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28700" y="8893175"/>
            <a:ext cx="353245" cy="353245"/>
            <a:chOff x="0" y="0"/>
            <a:chExt cx="812800" cy="81280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893650"/>
            </a:solidFill>
          </p:spPr>
        </p:sp>
        <p:sp>
          <p:nvSpPr>
            <p:cNvPr id="39" name="TextBox 39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680214" y="8845550"/>
            <a:ext cx="4722166" cy="422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CAP IT - 2467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976690" y="3566803"/>
            <a:ext cx="13127499" cy="2307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8770"/>
              </a:lnSpc>
            </a:pPr>
            <a:r>
              <a:rPr lang="en-US" sz="13407" b="1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SYSTEM DEMO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1230</Words>
  <Application>Microsoft Office PowerPoint</Application>
  <PresentationFormat>Custom</PresentationFormat>
  <Paragraphs>395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41" baseType="lpstr">
      <vt:lpstr>Canva Sans Bold</vt:lpstr>
      <vt:lpstr>Lato</vt:lpstr>
      <vt:lpstr>Heading Now 71-78</vt:lpstr>
      <vt:lpstr>Lato Bold</vt:lpstr>
      <vt:lpstr>Montserrat Semi-Bold</vt:lpstr>
      <vt:lpstr>Roboto Bold</vt:lpstr>
      <vt:lpstr>Poppins</vt:lpstr>
      <vt:lpstr>Inter Bold</vt:lpstr>
      <vt:lpstr>Calibri</vt:lpstr>
      <vt:lpstr>Canva Sans</vt:lpstr>
      <vt:lpstr>Roboto</vt:lpstr>
      <vt:lpstr>Poppins Semi-Bold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CAP2 defense Presentation</dc:title>
  <cp:lastModifiedBy>Jacob Dela Peña</cp:lastModifiedBy>
  <cp:revision>4</cp:revision>
  <dcterms:created xsi:type="dcterms:W3CDTF">2006-08-16T00:00:00Z</dcterms:created>
  <dcterms:modified xsi:type="dcterms:W3CDTF">2026-07-17T15:03:34Z</dcterms:modified>
  <dc:identifier>DAG41bK1-8g</dc:identifier>
</cp:coreProperties>
</file>