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44"/>
    <p:sldId id="257" r:id="rId45"/>
    <p:sldId id="258" r:id="rId46"/>
    <p:sldId id="259" r:id="rId47"/>
    <p:sldId id="260" r:id="rId48"/>
    <p:sldId id="261" r:id="rId49"/>
    <p:sldId id="262" r:id="rId50"/>
    <p:sldId id="263" r:id="rId51"/>
    <p:sldId id="264" r:id="rId52"/>
    <p:sldId id="265" r:id="rId53"/>
    <p:sldId id="266" r:id="rId54"/>
    <p:sldId id="267" r:id="rId55"/>
    <p:sldId id="268" r:id="rId56"/>
    <p:sldId id="269" r:id="rId57"/>
    <p:sldId id="270" r:id="rId58"/>
    <p:sldId id="271" r:id="rId59"/>
    <p:sldId id="272" r:id="rId60"/>
    <p:sldId id="273" r:id="rId61"/>
    <p:sldId id="274" r:id="rId62"/>
    <p:sldId id="275" r:id="rId63"/>
    <p:sldId id="276" r:id="rId64"/>
    <p:sldId id="277" r:id="rId65"/>
    <p:sldId id="278" r:id="rId66"/>
    <p:sldId id="279" r:id="rId67"/>
    <p:sldId id="280" r:id="rId68"/>
    <p:sldId id="281" r:id="rId69"/>
    <p:sldId id="282" r:id="rId70"/>
    <p:sldId id="283" r:id="rId71"/>
    <p:sldId id="284" r:id="rId72"/>
    <p:sldId id="285" r:id="rId73"/>
    <p:sldId id="286" r:id="rId74"/>
    <p:sldId id="287" r:id="rId75"/>
    <p:sldId id="288" r:id="rId76"/>
    <p:sldId id="289" r:id="rId77"/>
    <p:sldId id="290" r:id="rId78"/>
    <p:sldId id="291" r:id="rId79"/>
    <p:sldId id="292" r:id="rId80"/>
    <p:sldId id="293" r:id="rId81"/>
    <p:sldId id="294" r:id="rId82"/>
    <p:sldId id="295" r:id="rId83"/>
    <p:sldId id="296" r:id="rId84"/>
    <p:sldId id="297" r:id="rId85"/>
    <p:sldId id="298" r:id="rId86"/>
  </p:sldIdLst>
  <p:sldSz cx="18288000" cy="10287000"/>
  <p:notesSz cx="6858000" cy="9144000"/>
  <p:embeddedFontLst>
    <p:embeddedFont>
      <p:font typeface="Inter Bold" charset="1" panose="020B0802030000000004"/>
      <p:regular r:id="rId36"/>
    </p:embeddedFont>
    <p:embeddedFont>
      <p:font typeface="Montserrat Semi-Bold" charset="1" panose="00000700000000000000"/>
      <p:regular r:id="rId37"/>
    </p:embeddedFont>
    <p:embeddedFont>
      <p:font typeface="Canva Sans" charset="1" panose="020B0503030501040103"/>
      <p:regular r:id="rId38"/>
    </p:embeddedFont>
    <p:embeddedFont>
      <p:font typeface="Canva Sans Bold" charset="1" panose="020B0803030501040103"/>
      <p:regular r:id="rId39"/>
    </p:embeddedFont>
    <p:embeddedFont>
      <p:font typeface="Lato" charset="1" panose="020F0502020204030203"/>
      <p:regular r:id="rId40"/>
    </p:embeddedFont>
    <p:embeddedFont>
      <p:font typeface="Lato Bold" charset="1" panose="020F0502020204030203"/>
      <p:regular r:id="rId41"/>
    </p:embeddedFont>
    <p:embeddedFont>
      <p:font typeface="Poppins Semi-Bold" charset="1" panose="00000700000000000000"/>
      <p:regular r:id="rId42"/>
    </p:embeddedFont>
    <p:embeddedFont>
      <p:font typeface="Poppins" charset="1" panose="000005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44" Target="slides/slide1.xml" Type="http://schemas.openxmlformats.org/officeDocument/2006/relationships/slide"/><Relationship Id="rId45" Target="slides/slide2.xml" Type="http://schemas.openxmlformats.org/officeDocument/2006/relationships/slide"/><Relationship Id="rId46" Target="slides/slide3.xml" Type="http://schemas.openxmlformats.org/officeDocument/2006/relationships/slide"/><Relationship Id="rId47" Target="slides/slide4.xml" Type="http://schemas.openxmlformats.org/officeDocument/2006/relationships/slide"/><Relationship Id="rId48" Target="slides/slide5.xml" Type="http://schemas.openxmlformats.org/officeDocument/2006/relationships/slide"/><Relationship Id="rId49" Target="slides/slide6.xml" Type="http://schemas.openxmlformats.org/officeDocument/2006/relationships/slide"/><Relationship Id="rId50" Target="slides/slide7.xml" Type="http://schemas.openxmlformats.org/officeDocument/2006/relationships/slide"/><Relationship Id="rId51" Target="slides/slide8.xml" Type="http://schemas.openxmlformats.org/officeDocument/2006/relationships/slide"/><Relationship Id="rId52" Target="slides/slide9.xml" Type="http://schemas.openxmlformats.org/officeDocument/2006/relationships/slide"/><Relationship Id="rId53" Target="slides/slide10.xml" Type="http://schemas.openxmlformats.org/officeDocument/2006/relationships/slide"/><Relationship Id="rId54" Target="slides/slide11.xml" Type="http://schemas.openxmlformats.org/officeDocument/2006/relationships/slide"/><Relationship Id="rId55" Target="slides/slide12.xml" Type="http://schemas.openxmlformats.org/officeDocument/2006/relationships/slide"/><Relationship Id="rId56" Target="slides/slide13.xml" Type="http://schemas.openxmlformats.org/officeDocument/2006/relationships/slide"/><Relationship Id="rId57" Target="slides/slide14.xml" Type="http://schemas.openxmlformats.org/officeDocument/2006/relationships/slide"/><Relationship Id="rId58" Target="slides/slide15.xml" Type="http://schemas.openxmlformats.org/officeDocument/2006/relationships/slide"/><Relationship Id="rId59" Target="slides/slide16.xml" Type="http://schemas.openxmlformats.org/officeDocument/2006/relationships/slide"/><Relationship Id="rId60" Target="slides/slide17.xml" Type="http://schemas.openxmlformats.org/officeDocument/2006/relationships/slide"/><Relationship Id="rId61" Target="slides/slide18.xml" Type="http://schemas.openxmlformats.org/officeDocument/2006/relationships/slide"/><Relationship Id="rId62" Target="slides/slide19.xml" Type="http://schemas.openxmlformats.org/officeDocument/2006/relationships/slide"/><Relationship Id="rId63" Target="slides/slide20.xml" Type="http://schemas.openxmlformats.org/officeDocument/2006/relationships/slide"/><Relationship Id="rId64" Target="slides/slide21.xml" Type="http://schemas.openxmlformats.org/officeDocument/2006/relationships/slide"/><Relationship Id="rId65" Target="slides/slide22.xml" Type="http://schemas.openxmlformats.org/officeDocument/2006/relationships/slide"/><Relationship Id="rId66" Target="slides/slide23.xml" Type="http://schemas.openxmlformats.org/officeDocument/2006/relationships/slide"/><Relationship Id="rId67" Target="slides/slide24.xml" Type="http://schemas.openxmlformats.org/officeDocument/2006/relationships/slide"/><Relationship Id="rId68" Target="slides/slide25.xml" Type="http://schemas.openxmlformats.org/officeDocument/2006/relationships/slide"/><Relationship Id="rId69" Target="slides/slide26.xml" Type="http://schemas.openxmlformats.org/officeDocument/2006/relationships/slide"/><Relationship Id="rId70" Target="slides/slide27.xml" Type="http://schemas.openxmlformats.org/officeDocument/2006/relationships/slide"/><Relationship Id="rId71" Target="slides/slide28.xml" Type="http://schemas.openxmlformats.org/officeDocument/2006/relationships/slide"/><Relationship Id="rId72" Target="slides/slide29.xml" Type="http://schemas.openxmlformats.org/officeDocument/2006/relationships/slide"/><Relationship Id="rId73" Target="slides/slide30.xml" Type="http://schemas.openxmlformats.org/officeDocument/2006/relationships/slide"/><Relationship Id="rId74" Target="slides/slide31.xml" Type="http://schemas.openxmlformats.org/officeDocument/2006/relationships/slide"/><Relationship Id="rId75" Target="slides/slide32.xml" Type="http://schemas.openxmlformats.org/officeDocument/2006/relationships/slide"/><Relationship Id="rId76" Target="slides/slide33.xml" Type="http://schemas.openxmlformats.org/officeDocument/2006/relationships/slide"/><Relationship Id="rId77" Target="slides/slide34.xml" Type="http://schemas.openxmlformats.org/officeDocument/2006/relationships/slide"/><Relationship Id="rId78" Target="slides/slide35.xml" Type="http://schemas.openxmlformats.org/officeDocument/2006/relationships/slide"/><Relationship Id="rId79" Target="slides/slide36.xml" Type="http://schemas.openxmlformats.org/officeDocument/2006/relationships/slide"/><Relationship Id="rId80" Target="slides/slide37.xml" Type="http://schemas.openxmlformats.org/officeDocument/2006/relationships/slide"/><Relationship Id="rId81" Target="slides/slide38.xml" Type="http://schemas.openxmlformats.org/officeDocument/2006/relationships/slide"/><Relationship Id="rId82" Target="slides/slide39.xml" Type="http://schemas.openxmlformats.org/officeDocument/2006/relationships/slide"/><Relationship Id="rId83" Target="slides/slide40.xml" Type="http://schemas.openxmlformats.org/officeDocument/2006/relationships/slide"/><Relationship Id="rId84" Target="slides/slide41.xml" Type="http://schemas.openxmlformats.org/officeDocument/2006/relationships/slide"/><Relationship Id="rId85" Target="slides/slide42.xml" Type="http://schemas.openxmlformats.org/officeDocument/2006/relationships/slide"/><Relationship Id="rId86" Target="slides/slide4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1945" y="2636944"/>
            <a:ext cx="5141069" cy="51410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29981" y="5191946"/>
            <a:ext cx="2586067" cy="25860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8947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8947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569032" y="3098699"/>
            <a:ext cx="10817167" cy="210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81"/>
              </a:lnSpc>
            </a:pPr>
            <a:r>
              <a:rPr lang="en-US" sz="1227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JUAN CARLO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16273" y="5092685"/>
            <a:ext cx="10387814" cy="95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8"/>
              </a:lnSpc>
            </a:pPr>
            <a:r>
              <a:rPr lang="en-US" b="true" sz="5612">
                <a:solidFill>
                  <a:srgbClr val="89475B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CATERING SYSTEM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985854" y="8781148"/>
            <a:ext cx="1273446" cy="477152"/>
            <a:chOff x="0" y="0"/>
            <a:chExt cx="1084619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4619" cy="406400"/>
            </a:xfrm>
            <a:custGeom>
              <a:avLst/>
              <a:gdLst/>
              <a:ahLst/>
              <a:cxnLst/>
              <a:rect r="r" b="b" t="t" l="l"/>
              <a:pathLst>
                <a:path h="406400" w="1084619">
                  <a:moveTo>
                    <a:pt x="881419" y="0"/>
                  </a:moveTo>
                  <a:cubicBezTo>
                    <a:pt x="993644" y="0"/>
                    <a:pt x="1084619" y="90976"/>
                    <a:pt x="1084619" y="203200"/>
                  </a:cubicBezTo>
                  <a:cubicBezTo>
                    <a:pt x="1084619" y="315424"/>
                    <a:pt x="993644" y="406400"/>
                    <a:pt x="8814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8461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6055598" y="8866465"/>
            <a:ext cx="1133958" cy="27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sz="163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01</a:t>
            </a:r>
          </a:p>
        </p:txBody>
      </p:sp>
      <p:sp>
        <p:nvSpPr>
          <p:cNvPr name="AutoShape 36" id="36"/>
          <p:cNvSpPr/>
          <p:nvPr/>
        </p:nvSpPr>
        <p:spPr>
          <a:xfrm>
            <a:off x="16622577" y="1297609"/>
            <a:ext cx="641146" cy="0"/>
          </a:xfrm>
          <a:prstGeom prst="line">
            <a:avLst/>
          </a:prstGeom>
          <a:ln cap="flat" w="38100">
            <a:solidFill>
              <a:srgbClr val="89475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6564638" cy="3676277"/>
            <a:chOff x="0" y="0"/>
            <a:chExt cx="1728958" cy="968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958" cy="968238"/>
            </a:xfrm>
            <a:custGeom>
              <a:avLst/>
              <a:gdLst/>
              <a:ahLst/>
              <a:cxnLst/>
              <a:rect r="r" b="b" t="t" l="l"/>
              <a:pathLst>
                <a:path h="968238" w="1728958">
                  <a:moveTo>
                    <a:pt x="60146" y="0"/>
                  </a:moveTo>
                  <a:lnTo>
                    <a:pt x="1668812" y="0"/>
                  </a:lnTo>
                  <a:cubicBezTo>
                    <a:pt x="1702030" y="0"/>
                    <a:pt x="1728958" y="26928"/>
                    <a:pt x="1728958" y="60146"/>
                  </a:cubicBezTo>
                  <a:lnTo>
                    <a:pt x="1728958" y="908091"/>
                  </a:lnTo>
                  <a:cubicBezTo>
                    <a:pt x="1728958" y="941309"/>
                    <a:pt x="1702030" y="968238"/>
                    <a:pt x="1668812" y="968238"/>
                  </a:cubicBezTo>
                  <a:lnTo>
                    <a:pt x="60146" y="968238"/>
                  </a:lnTo>
                  <a:cubicBezTo>
                    <a:pt x="26928" y="968238"/>
                    <a:pt x="0" y="941309"/>
                    <a:pt x="0" y="908091"/>
                  </a:cubicBezTo>
                  <a:lnTo>
                    <a:pt x="0" y="60146"/>
                  </a:lnTo>
                  <a:cubicBezTo>
                    <a:pt x="0" y="26928"/>
                    <a:pt x="26928" y="0"/>
                    <a:pt x="60146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958" cy="100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030362"/>
            <a:ext cx="2092393" cy="6226275"/>
            <a:chOff x="0" y="0"/>
            <a:chExt cx="551083" cy="1639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1639842"/>
            </a:xfrm>
            <a:custGeom>
              <a:avLst/>
              <a:gdLst/>
              <a:ahLst/>
              <a:cxnLst/>
              <a:rect r="r" b="b" t="t" l="l"/>
              <a:pathLst>
                <a:path h="1639842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1451140"/>
                  </a:lnTo>
                  <a:cubicBezTo>
                    <a:pt x="551083" y="1555357"/>
                    <a:pt x="466598" y="1639842"/>
                    <a:pt x="362381" y="1639842"/>
                  </a:cubicBezTo>
                  <a:lnTo>
                    <a:pt x="188702" y="1639842"/>
                  </a:lnTo>
                  <a:cubicBezTo>
                    <a:pt x="84485" y="1639842"/>
                    <a:pt x="0" y="1555357"/>
                    <a:pt x="0" y="1451140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167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93432" y="4365625"/>
            <a:ext cx="7850568" cy="18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2"/>
              </a:lnSpc>
            </a:pPr>
            <a:r>
              <a:rPr lang="en-US" b="true" sz="7052">
                <a:solidFill>
                  <a:srgbClr val="4A1223"/>
                </a:solidFill>
                <a:latin typeface="Inter Bold"/>
                <a:ea typeface="Inter Bold"/>
                <a:cs typeface="Inter Bold"/>
                <a:sym typeface="Inter Bold"/>
              </a:rPr>
              <a:t>TABLE OF CONTENTS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58907" y="3402474"/>
            <a:ext cx="7963670" cy="465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Project at a Glance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Revisions from CAP-1 Defense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Recent Revisions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Remaining 20%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Finance &amp; Reports Modules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New Business Rules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BPMN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 Acceptance Testing</a:t>
            </a:r>
          </a:p>
          <a:p>
            <a:pPr algn="l">
              <a:lnSpc>
                <a:spcPts val="3360"/>
              </a:lnSpc>
            </a:pPr>
            <a:r>
              <a:rPr lang="en-US" sz="24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System Demo</a:t>
            </a:r>
          </a:p>
        </p:txBody>
      </p:sp>
      <p:sp>
        <p:nvSpPr>
          <p:cNvPr name="AutoShape 19" id="19"/>
          <p:cNvSpPr/>
          <p:nvPr/>
        </p:nvSpPr>
        <p:spPr>
          <a:xfrm flipH="true" flipV="true">
            <a:off x="13098614" y="3673047"/>
            <a:ext cx="3308733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2215696" y="4130247"/>
            <a:ext cx="4165034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12886957" y="4625547"/>
            <a:ext cx="3513650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 flipV="true">
            <a:off x="12124585" y="5050748"/>
            <a:ext cx="4256118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>
            <a:off x="12031535" y="6011613"/>
            <a:ext cx="4349195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>
            <a:off x="11059027" y="7421313"/>
            <a:ext cx="5348319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6" id="36"/>
          <p:cNvSpPr/>
          <p:nvPr/>
        </p:nvSpPr>
        <p:spPr>
          <a:xfrm flipH="true">
            <a:off x="13258160" y="5554413"/>
            <a:ext cx="3122570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9870771" y="6468813"/>
            <a:ext cx="6536575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H="true">
            <a:off x="12757326" y="6964113"/>
            <a:ext cx="3650021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761124"/>
            <a:ext cx="1704262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4"/>
              </a:lnSpc>
            </a:pPr>
            <a:r>
              <a:rPr lang="en-US" b="true" sz="64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THE PROJECT AT A GLANCE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Client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Problem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Our Objectives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Juan Carlo the Caterer, Inc.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Founded 1993 by Alex &amp; Teresita del Rosario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Premier Philippine event caterer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Ten departments, full-service events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Paper-based workflows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Manual interdepartmental coordination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shared view of event status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Deadlines tracked from memory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One centralized management system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Real-time task routing per department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Digital approval and signing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Tested for accuracy and usability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18154" y="1081375"/>
            <a:ext cx="641146" cy="421628"/>
            <a:chOff x="0" y="0"/>
            <a:chExt cx="854861" cy="562171"/>
          </a:xfrm>
        </p:grpSpPr>
        <p:sp>
          <p:nvSpPr>
            <p:cNvPr name="AutoShape 30" id="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76690" y="3566803"/>
            <a:ext cx="13127499" cy="23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REVISIONS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2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1.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Monetary values and terminology</a:t>
            </a:r>
          </a:p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2.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Status visibility across departments</a:t>
            </a:r>
          </a:p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3.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Role dashboards and worklists</a:t>
            </a:r>
          </a:p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4.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Per-department notifications</a:t>
            </a:r>
          </a:p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5.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Contract drafting and signing</a:t>
            </a:r>
          </a:p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6.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collection automation</a:t>
            </a:r>
          </a:p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7.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Booking constraints and deadlines</a:t>
            </a:r>
          </a:p>
          <a:p>
            <a:pPr algn="l" marL="533533" indent="-533533">
              <a:lnSpc>
                <a:spcPts val="2660"/>
              </a:lnSpc>
            </a:pPr>
            <a:r>
              <a:rPr lang="en-US" b="true" sz="19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8.  </a:t>
            </a:r>
            <a:r>
              <a:rPr lang="en-US" sz="19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Operational forms and records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2964457"/>
            <a:ext cx="6339325" cy="2205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FROM CAP-1 DEFENSE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Show money in a consistent Philippine peso format, and use the wording the client actually uses.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All amounts peso-formatted to two decimal places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Guest count renamed to "pax" throughout, matching Juan Carlo’s own terminology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36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1. MONETARY VALUES AND TERMINOLOGY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Make a contract’s stage readable at a glance instead of having to read through text.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Colour-coded status badges on every contract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Draft validation statuses during contract creation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Per-department "Validated" badge so each department sees its own sign-off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31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2. STATUS VISIBILITY ACROSS DEPARTMENTS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Each department should land on what concerns it, not on one shared generic screen.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Dashboards revised per role, showing only that department’s work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Worklists sorted by priority so the most urgent contract appears first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9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3. ROLE DASHBOARDS AND WORKLISTS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Notifications should reach the department responsible for the action, not everyone.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Notifications routed to the owning department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Exactly one notification per payment milestone, removing duplicates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9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4. PER-DEPARTMENT NOTIFICATIONS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Let Sales save work before a contract is final, and give the client a signable copy.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Pre-draft saving before the contract is created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Downloadable signature-ready contract PDF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9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5. CONTRACT DRAFTING AND SIGNING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deadlines should be enforced by the system rather than tracked by hand.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Collection timeline enforced against each milestone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Automatic On-Hold when the 60% balance passes its due date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Compliance sweep runs every six hours without human intervention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9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6. PAYMENT COLLECTION AUTOMATION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Prevent double bookings and enforce the company’s own time limits.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One booking per hourly menu-tasting slot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Tasting confirmation, no-show, and feedback recording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Time-bound deadlines enforced across the workflow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4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7. BOOKING CONSTRAINTS AND DEADLINES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7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CAP-1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590"/>
              </a:lnSpc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paper forms used on the ground should exist inside the system.</a:t>
            </a:r>
          </a:p>
          <a:p>
            <a:pPr algn="l">
              <a:lnSpc>
                <a:spcPts val="1554"/>
              </a:lnSpc>
            </a:pPr>
          </a:p>
          <a:p>
            <a:pPr algn="l">
              <a:lnSpc>
                <a:spcPts val="2590"/>
              </a:lnSpc>
            </a:pPr>
            <a:r>
              <a:rPr lang="en-US" b="true" sz="185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Dispatch and trip ticket with item counts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Item, purchase, and emergency requisitions with a 7-day lead time</a:t>
            </a:r>
          </a:p>
          <a:p>
            <a:pPr algn="l" marL="533533" indent="-266767" lvl="1">
              <a:lnSpc>
                <a:spcPts val="2590"/>
              </a:lnSpc>
              <a:buFont typeface="Arial"/>
              <a:buChar char="•"/>
            </a:pPr>
            <a:r>
              <a:rPr lang="en-US" sz="185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Banquet check-in sheet; stockroom inventory cleaned up; demo database populated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9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8. OPERATIONAL FORMS AND RECORDS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18154" y="1081375"/>
            <a:ext cx="641146" cy="421628"/>
            <a:chOff x="0" y="0"/>
            <a:chExt cx="854861" cy="562171"/>
          </a:xfrm>
        </p:grpSpPr>
        <p:sp>
          <p:nvSpPr>
            <p:cNvPr name="AutoShape 30" id="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76690" y="3566803"/>
            <a:ext cx="13127499" cy="23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RECENT REVISIONS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761124"/>
            <a:ext cx="1704262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4"/>
              </a:lnSpc>
            </a:pPr>
            <a:r>
              <a:rPr lang="en-US" b="true" sz="52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RECENT REVISIONS — 22 TO 29 JULY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Capability Additions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Control &amp; Confidentiality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Visibility &amp; Reports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Staff transportation booking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Complete logistics round trip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Guided logistics workflow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Kitchen preparation windows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Monthly operating budget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Enforced procurement approval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Financial confidentiality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Business rules enforced server-side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Contract status system reworked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Notification system overhaul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Reports expanded per department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30+ fixes across all ten departments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35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RECENT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240"/>
              </a:lnSpc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Personnel should not travel in the same trucks that carry food and equipment, and the system should cover the return trip, not delivery alone.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2240"/>
              </a:lnSpc>
            </a:pPr>
            <a:r>
              <a:rPr lang="en-US" b="true" sz="16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Dedicated seat-tagged passenger vehicle booking, sized by headcount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driver is required per vehicle; same-day double-booking is blocked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Load manifest now includes kitchen and food items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Department load-readiness board, driver pickup checklist, return checklist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Return reconciliation — "X of Y items returned" per department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926"/>
              </a:lnSpc>
            </a:pPr>
            <a:r>
              <a:rPr lang="en-US" b="true" sz="1376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Business basis: Appendix H — teams may not leave the venue until returned equipment matches the checklist.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LOGISTICS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35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RECENT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240"/>
              </a:lnSpc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kitchen should only be told to prepare within the window it actually works in, and notifications should stop piling up.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2240"/>
              </a:lnSpc>
            </a:pPr>
            <a:r>
              <a:rPr lang="en-US" b="true" sz="16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Alert two weeks out to start sourcing; seven days out to begin preparations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Preferences tab now shows the linked menu-tasting comments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Printable kitchen checklist; inventory tab removed as not applicable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Green "Done" tag replaces red "High" once an action is complete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Per-item dismiss, stacking popups, and auto-expiry after a contract closes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926"/>
              </a:lnSpc>
            </a:pPr>
            <a:r>
              <a:rPr lang="en-US" b="true" sz="1376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Manual: §8.2 (Table 8.2 alert windows) · §2.5 (Table 2.2, all 14 notification types).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KITCHEN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35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RECENT REVISIONS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requested</a:t>
            </a:r>
          </a:p>
          <a:p>
            <a:pPr algn="l">
              <a:lnSpc>
                <a:spcPts val="2240"/>
              </a:lnSpc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Rules that existed only as on-screen labels should actually be enforced, and package prices should not be visible to departments that do not handle money.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2240"/>
              </a:lnSpc>
            </a:pPr>
            <a:r>
              <a:rPr lang="en-US" b="true" sz="16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What was implemented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Material freeze and banquet roster freeze enforced server-side, admin override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Tasting slot conflicts rejected on save; same-day vehicle double-booking blocked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Waitstaff ratio corrected to 1:25 per Appendix H; 3-day transport lead-time warning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Metro Manila number coding (UVVRP) applied per event date</a:t>
            </a:r>
          </a:p>
          <a:p>
            <a:pPr algn="l" marL="533533" indent="-266767" lvl="1">
              <a:lnSpc>
                <a:spcPts val="2240"/>
              </a:lnSpc>
              <a:buFont typeface="Arial"/>
              <a:buChar char="•"/>
            </a:pPr>
            <a:r>
              <a:rPr lang="en-US" sz="16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Package price and contract value restricted to Sales, Accounting, and Admin — on screen, in exported PDFs, and in the payment-hold banner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926"/>
              </a:lnSpc>
            </a:pPr>
            <a:r>
              <a:rPr lang="en-US" b="true" sz="1376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Manual: Tables 4.3, 9.2, 10.2 · Appendix A (Tables A.1 and A.2).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RULES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761124"/>
            <a:ext cx="1704262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9"/>
              </a:lnSpc>
            </a:pPr>
            <a:r>
              <a:rPr lang="en-US" b="true" sz="49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SMALL WINS — FIXES AND REFINEMENTS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Money &amp;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Department Fixes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Platform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Decimal rounding fixed — drift was making contract closing impossible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Full-payment notification no longer cites a 40% milestone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term reads "N/A" until the contract is signed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Kitchen "Ingredients" relabelled to "Items"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Banquet suggested staff now show their names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Driver "undefined" fixed across logistics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Obsolete creative-lead and supervisor blocks removed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3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 passes end to end again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Main bundle reduced 1.75 MB to 1.22 MB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Purchasing and accounting queue filters added</a:t>
            </a:r>
          </a:p>
          <a:p>
            <a:pPr algn="l" marL="533533" indent="-266767" lvl="1">
              <a:lnSpc>
                <a:spcPts val="2100"/>
              </a:lnSpc>
              <a:buFont typeface="Arial"/>
              <a:buChar char="•"/>
            </a:pPr>
            <a:r>
              <a:rPr lang="en-US" sz="15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 manual rebuilt — 62 pages, 47 figures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18154" y="1081375"/>
            <a:ext cx="641146" cy="421628"/>
            <a:chOff x="0" y="0"/>
            <a:chExt cx="854861" cy="562171"/>
          </a:xfrm>
        </p:grpSpPr>
        <p:sp>
          <p:nvSpPr>
            <p:cNvPr name="AutoShape 30" id="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76690" y="3566803"/>
            <a:ext cx="13127499" cy="23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REMAINING 20%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5005" y="2219243"/>
            <a:ext cx="15737989" cy="75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4"/>
              </a:lnSpc>
            </a:pPr>
            <a:r>
              <a:rPr lang="en-US" b="true" sz="5664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THE REMAINING 20% - SCOPE AND STATUS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Del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ivered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Emb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edded In Workflows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Future Work</a:t>
            </a:r>
          </a:p>
          <a:p>
            <a:pPr algn="ctr">
              <a:lnSpc>
                <a:spcPts val="2800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200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inance module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eports module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 UAT across all departments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st-UAT refinements applied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234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tics: aging, readiness, budgets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Scheduling &amp; conflict prevention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Historical data capture for forecasting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200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recasting module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Rout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planning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Mobile-device optimization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Post-implementation evaluation</a:t>
            </a:r>
          </a:p>
          <a:p>
            <a:pPr algn="l">
              <a:lnSpc>
                <a:spcPts val="2660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5322" y="3557095"/>
            <a:ext cx="6210468" cy="5528641"/>
            <a:chOff x="0" y="0"/>
            <a:chExt cx="1779127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9127" cy="1583803"/>
            </a:xfrm>
            <a:custGeom>
              <a:avLst/>
              <a:gdLst/>
              <a:ahLst/>
              <a:cxnLst/>
              <a:rect r="r" b="b" t="t" l="l"/>
              <a:pathLst>
                <a:path h="1583803" w="1779127">
                  <a:moveTo>
                    <a:pt x="37398" y="0"/>
                  </a:moveTo>
                  <a:lnTo>
                    <a:pt x="1741730" y="0"/>
                  </a:lnTo>
                  <a:cubicBezTo>
                    <a:pt x="1762384" y="0"/>
                    <a:pt x="1779127" y="16744"/>
                    <a:pt x="1779127" y="37398"/>
                  </a:cubicBezTo>
                  <a:lnTo>
                    <a:pt x="1779127" y="1546405"/>
                  </a:lnTo>
                  <a:cubicBezTo>
                    <a:pt x="1779127" y="1567059"/>
                    <a:pt x="1762384" y="1583803"/>
                    <a:pt x="1741730" y="1583803"/>
                  </a:cubicBezTo>
                  <a:lnTo>
                    <a:pt x="37398" y="1583803"/>
                  </a:lnTo>
                  <a:cubicBezTo>
                    <a:pt x="27479" y="1583803"/>
                    <a:pt x="17967" y="1579863"/>
                    <a:pt x="10954" y="1572849"/>
                  </a:cubicBezTo>
                  <a:cubicBezTo>
                    <a:pt x="3940" y="1565836"/>
                    <a:pt x="0" y="1556324"/>
                    <a:pt x="0" y="1546405"/>
                  </a:cubicBezTo>
                  <a:lnTo>
                    <a:pt x="0" y="37398"/>
                  </a:lnTo>
                  <a:cubicBezTo>
                    <a:pt x="0" y="16744"/>
                    <a:pt x="16744" y="0"/>
                    <a:pt x="373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79127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5458" y="1705996"/>
            <a:ext cx="11118278" cy="167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b="true" sz="64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COMPLETED ITEMS THAT MAKE 20%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0616" y="4962525"/>
            <a:ext cx="5399881" cy="228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FINANCE MODULE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465605" y="3557095"/>
            <a:ext cx="6210468" cy="5528641"/>
            <a:chOff x="0" y="0"/>
            <a:chExt cx="1779127" cy="15838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79127" cy="1583803"/>
            </a:xfrm>
            <a:custGeom>
              <a:avLst/>
              <a:gdLst/>
              <a:ahLst/>
              <a:cxnLst/>
              <a:rect r="r" b="b" t="t" l="l"/>
              <a:pathLst>
                <a:path h="1583803" w="1779127">
                  <a:moveTo>
                    <a:pt x="37398" y="0"/>
                  </a:moveTo>
                  <a:lnTo>
                    <a:pt x="1741730" y="0"/>
                  </a:lnTo>
                  <a:cubicBezTo>
                    <a:pt x="1762384" y="0"/>
                    <a:pt x="1779127" y="16744"/>
                    <a:pt x="1779127" y="37398"/>
                  </a:cubicBezTo>
                  <a:lnTo>
                    <a:pt x="1779127" y="1546405"/>
                  </a:lnTo>
                  <a:cubicBezTo>
                    <a:pt x="1779127" y="1567059"/>
                    <a:pt x="1762384" y="1583803"/>
                    <a:pt x="1741730" y="1583803"/>
                  </a:cubicBezTo>
                  <a:lnTo>
                    <a:pt x="37398" y="1583803"/>
                  </a:lnTo>
                  <a:cubicBezTo>
                    <a:pt x="27479" y="1583803"/>
                    <a:pt x="17967" y="1579863"/>
                    <a:pt x="10954" y="1572849"/>
                  </a:cubicBezTo>
                  <a:cubicBezTo>
                    <a:pt x="3940" y="1565836"/>
                    <a:pt x="0" y="1556324"/>
                    <a:pt x="0" y="1546405"/>
                  </a:cubicBezTo>
                  <a:lnTo>
                    <a:pt x="0" y="37398"/>
                  </a:lnTo>
                  <a:cubicBezTo>
                    <a:pt x="0" y="16744"/>
                    <a:pt x="16744" y="0"/>
                    <a:pt x="373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779127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689896" y="4962525"/>
            <a:ext cx="5399881" cy="228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REPORTS MODULE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REMAINING 20%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Purpose</a:t>
            </a:r>
          </a:p>
          <a:p>
            <a:pPr algn="just">
              <a:lnSpc>
                <a:spcPts val="3459"/>
              </a:lnSpc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manage 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 monitor client payments throughout the catering transaction.</a:t>
            </a:r>
          </a:p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Features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monitoring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Reservation fee recording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40% initial payment tracking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60% final payment tracking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status (Paid, Partially Paid, Unpaid)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Remaining balance computation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ment history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Du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date monitoring</a:t>
            </a:r>
          </a:p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Benefits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Eliminates manual payment tracking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Reduces missed payment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eadlines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Improves financial monitoring</a:t>
            </a: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FINANCE MODU</a:t>
            </a:r>
            <a:r>
              <a:rPr lang="en-US" b="true" sz="638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LE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23359" y="2918401"/>
            <a:ext cx="9464641" cy="524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Purpose</a:t>
            </a:r>
          </a:p>
          <a:p>
            <a:pPr algn="just">
              <a:lnSpc>
                <a:spcPts val="3459"/>
              </a:lnSpc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provide manage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ment with real-time reports for monitoring business operations.</a:t>
            </a:r>
          </a:p>
          <a:p>
            <a:pPr algn="just">
              <a:lnSpc>
                <a:spcPts val="3459"/>
              </a:lnSpc>
            </a:pPr>
          </a:p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Reports Available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ales Report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Report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ent Report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Inventory Report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rocurement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eport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Financial Summary</a:t>
            </a: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5" id="25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REPORTS MODU</a:t>
            </a:r>
            <a:r>
              <a:rPr lang="en-US" b="true" sz="638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LE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REMAINING 20%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23359" y="2918401"/>
            <a:ext cx="9464641" cy="524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Features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enerate reports automatically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Export reports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Filt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er by date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earch reports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ew department summaries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Monitor operational performance</a:t>
            </a:r>
          </a:p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Benefits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Faste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 decision making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Improved monitoring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Better business insights</a:t>
            </a: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5" id="25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REPORTS MODU</a:t>
            </a:r>
            <a:r>
              <a:rPr lang="en-US" b="true" sz="638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LE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REMAINING 20%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18154" y="1081375"/>
            <a:ext cx="641146" cy="421628"/>
            <a:chOff x="0" y="0"/>
            <a:chExt cx="854861" cy="562171"/>
          </a:xfrm>
        </p:grpSpPr>
        <p:sp>
          <p:nvSpPr>
            <p:cNvPr name="AutoShape 30" id="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48288" y="2665867"/>
            <a:ext cx="13127499" cy="468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NEW BUSINESS RULES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761124"/>
            <a:ext cx="17042624" cy="167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b="true" sz="64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USER ACCESS &amp; CONTRACT MANAGEMENT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Access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enu Tasting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Contract C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234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Role-b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ased access control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Department-specific dashboards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 has full system access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Persistent workflow notifications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267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Availabl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from 10:00 AM – 5:00 PM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booking per hourly time slot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Maximum of 10 guests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Completed tasting required before contract creation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334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client information required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inventory availability checking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Alternative item suggestions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₱30,000 reservation fee (part of 40% payment)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Flexible payment options (40/60 or Full Payment)</a:t>
            </a:r>
          </a:p>
          <a:p>
            <a:pPr algn="l">
              <a:lnSpc>
                <a:spcPts val="2660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761124"/>
            <a:ext cx="17042624" cy="86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b="true" sz="64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CONTRACT PROCESSING &amp; PAYMENT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Contra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ct Validation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ntract Signing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Payment Coll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ection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234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approvals required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ales Manager &amp; Accounting verification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Contract ready for signature after validation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167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Physical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or electronic signatures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orwarded to Accounting after signing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267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40% due after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booking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60% due before the event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payment reminders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overpayment allowed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On-hold status for overdue balances</a:t>
            </a:r>
          </a:p>
          <a:p>
            <a:pPr algn="l">
              <a:lnSpc>
                <a:spcPts val="2660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761124"/>
            <a:ext cx="17042624" cy="86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b="true" sz="64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OPERATIONS &amp; INVENTORY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72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Department Prepar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Inve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ntory Management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Logis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tics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234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Parallel d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epartment preparation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Readiness reports required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Purch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asing approval workflow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terial freeze (7 days before event)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167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Prevents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double booking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Low-stock monitoring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entory movement tracking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Demand forecasting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167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Vehicle &amp; driver assignment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oading schedule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onflict prevention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pment accountability</a:t>
            </a:r>
          </a:p>
          <a:p>
            <a:pPr algn="l">
              <a:lnSpc>
                <a:spcPts val="2660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725" y="3583648"/>
            <a:ext cx="4832283" cy="5528641"/>
            <a:chOff x="0" y="0"/>
            <a:chExt cx="1384316" cy="1583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7858" y="3583648"/>
            <a:ext cx="4832283" cy="5528641"/>
            <a:chOff x="0" y="0"/>
            <a:chExt cx="1384316" cy="15838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64992" y="3583648"/>
            <a:ext cx="4832283" cy="5528641"/>
            <a:chOff x="0" y="0"/>
            <a:chExt cx="1384316" cy="15838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4316" cy="1583803"/>
            </a:xfrm>
            <a:custGeom>
              <a:avLst/>
              <a:gdLst/>
              <a:ahLst/>
              <a:cxnLst/>
              <a:rect r="r" b="b" t="t" l="l"/>
              <a:pathLst>
                <a:path h="1583803" w="1384316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761124"/>
            <a:ext cx="17042624" cy="86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b="true" sz="6499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EVENT COMPLETION &amp; AUTOMATION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6625" y="3967807"/>
            <a:ext cx="3149630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Event Comple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2398" y="3967807"/>
            <a:ext cx="4143204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Au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8509" y="3967807"/>
            <a:ext cx="3832543" cy="36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Timeline Highligh</a:t>
            </a:r>
            <a:r>
              <a:rPr lang="en-US" b="true" sz="20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78509" y="9490837"/>
            <a:ext cx="9586380" cy="2409157"/>
            <a:chOff x="0" y="0"/>
            <a:chExt cx="2524808" cy="63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8434" y="5047034"/>
            <a:ext cx="4046010" cy="200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entory inspection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Incid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 reporting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ient feedback collection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Contract closed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 all requirements are met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994293" y="5047034"/>
            <a:ext cx="4299413" cy="167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omatic compliance checks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Payment reminders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Workflow notifications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Deadline monitoring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727538" y="5047034"/>
            <a:ext cx="4046010" cy="334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Reservation Fee → Booking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40% Payment → 2 m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onths after booking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60% Payment → 2 months before event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 Freeze → 7 days before event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 Completion → Contract Closure</a:t>
            </a:r>
          </a:p>
          <a:p>
            <a:pPr algn="l">
              <a:lnSpc>
                <a:spcPts val="2660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-4433878" y="-1532459"/>
            <a:ext cx="9586380" cy="2409157"/>
            <a:chOff x="0" y="0"/>
            <a:chExt cx="2524808" cy="634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4808" cy="634510"/>
            </a:xfrm>
            <a:custGeom>
              <a:avLst/>
              <a:gdLst/>
              <a:ahLst/>
              <a:cxnLst/>
              <a:rect r="r" b="b" t="t" l="l"/>
              <a:pathLst>
                <a:path h="634510" w="2524808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11052" y="1055037"/>
            <a:ext cx="641146" cy="421628"/>
            <a:chOff x="0" y="0"/>
            <a:chExt cx="854861" cy="562171"/>
          </a:xfrm>
        </p:grpSpPr>
        <p:sp>
          <p:nvSpPr>
            <p:cNvPr name="AutoShape 37" id="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18154" y="1081375"/>
            <a:ext cx="641146" cy="421628"/>
            <a:chOff x="0" y="0"/>
            <a:chExt cx="854861" cy="562171"/>
          </a:xfrm>
        </p:grpSpPr>
        <p:sp>
          <p:nvSpPr>
            <p:cNvPr name="AutoShape 30" id="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-4883535" y="3412054"/>
            <a:ext cx="13127499" cy="23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BPMN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-4883535" y="3412054"/>
            <a:ext cx="13127499" cy="23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BPMN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1194435"/>
            <a:ext cx="18288000" cy="7898130"/>
          </a:xfrm>
          <a:custGeom>
            <a:avLst/>
            <a:gdLst/>
            <a:ahLst/>
            <a:cxnLst/>
            <a:rect r="r" b="b" t="t" l="l"/>
            <a:pathLst>
              <a:path h="7898130" w="18288000">
                <a:moveTo>
                  <a:pt x="0" y="0"/>
                </a:moveTo>
                <a:lnTo>
                  <a:pt x="18288000" y="0"/>
                </a:lnTo>
                <a:lnTo>
                  <a:pt x="18288000" y="7898130"/>
                </a:lnTo>
                <a:lnTo>
                  <a:pt x="0" y="7898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-4883535" y="3412054"/>
            <a:ext cx="13127499" cy="23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BPMN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81263" y="0"/>
            <a:ext cx="17325474" cy="10287000"/>
          </a:xfrm>
          <a:custGeom>
            <a:avLst/>
            <a:gdLst/>
            <a:ahLst/>
            <a:cxnLst/>
            <a:rect r="r" b="b" t="t" l="l"/>
            <a:pathLst>
              <a:path h="10287000" w="17325474">
                <a:moveTo>
                  <a:pt x="0" y="0"/>
                </a:moveTo>
                <a:lnTo>
                  <a:pt x="17325474" y="0"/>
                </a:lnTo>
                <a:lnTo>
                  <a:pt x="173254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-4883535" y="3412054"/>
            <a:ext cx="13127499" cy="23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BPMN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234315"/>
            <a:ext cx="18288000" cy="9818370"/>
          </a:xfrm>
          <a:custGeom>
            <a:avLst/>
            <a:gdLst/>
            <a:ahLst/>
            <a:cxnLst/>
            <a:rect r="r" b="b" t="t" l="l"/>
            <a:pathLst>
              <a:path h="9818370" w="18288000">
                <a:moveTo>
                  <a:pt x="0" y="0"/>
                </a:moveTo>
                <a:lnTo>
                  <a:pt x="18288000" y="0"/>
                </a:lnTo>
                <a:lnTo>
                  <a:pt x="18288000" y="9818370"/>
                </a:lnTo>
                <a:lnTo>
                  <a:pt x="0" y="9818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18154" y="1081375"/>
            <a:ext cx="641146" cy="421628"/>
            <a:chOff x="0" y="0"/>
            <a:chExt cx="854861" cy="562171"/>
          </a:xfrm>
        </p:grpSpPr>
        <p:sp>
          <p:nvSpPr>
            <p:cNvPr name="AutoShape 30" id="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48288" y="1684810"/>
            <a:ext cx="13127499" cy="706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USER ACCEPTANCE TESTING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79143" y="398345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3794478"/>
            <a:ext cx="9464641" cy="349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How was it held?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Online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Google Forms</a:t>
            </a:r>
          </a:p>
          <a:p>
            <a:pPr algn="l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⅓ users per department</a:t>
            </a:r>
          </a:p>
          <a:p>
            <a:pPr algn="l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Representatives from all 10 departments</a:t>
            </a:r>
          </a:p>
          <a:p>
            <a:pPr algn="l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About one-third of the users per department</a:t>
            </a:r>
          </a:p>
          <a:p>
            <a:pPr algn="just">
              <a:lnSpc>
                <a:spcPts val="3459"/>
              </a:lnSpc>
            </a:pP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ABOUT THE UAT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79143" y="398345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32402" y="3587350"/>
            <a:ext cx="9464641" cy="392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9"/>
              </a:lnSpc>
            </a:pP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Majority of respondents selected "Strongly Agree" across all evaluation criteria.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System was 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rated as user-friendly, rel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iabl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e, and easy to use.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Succ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essfully improved interdepartmental communication and workflow efficiency.</a:t>
            </a:r>
          </a:p>
          <a:p>
            <a:pPr algn="just">
              <a:lnSpc>
                <a:spcPts val="3459"/>
              </a:lnSpc>
            </a:pPr>
          </a:p>
          <a:p>
            <a:pPr algn="just">
              <a:lnSpc>
                <a:spcPts val="3459"/>
              </a:lnSpc>
            </a:pP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OVERALL FINDINGS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79143" y="398345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63153" y="3812921"/>
            <a:ext cx="9464641" cy="261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9"/>
              </a:lnSpc>
            </a:pP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Syst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 Interface &amp; Navigation – </a:t>
            </a: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4.83/5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Daily T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ask &amp; Inte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rdepartmental Coordination – </a:t>
            </a: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4.83/5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Event Tracking &amp; Progress Monitoring – </a:t>
            </a: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4.74/5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rkflow Clarity – </a:t>
            </a:r>
            <a:r>
              <a:rPr lang="en-US" b="true" sz="247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4.63/5</a:t>
            </a: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244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HIGHEST-RATED CRIT</a:t>
            </a:r>
            <a:r>
              <a:rPr lang="en-US" b="true" sz="638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ERIA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79143" y="398345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57516" y="4244519"/>
            <a:ext cx="9464641" cy="261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Sales, Banquet, Kitchen, Warehouse, Logistics, Accounting, and other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depa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rtments were satisfied with their respective modules.</a:t>
            </a: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Users report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 no major errors or s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 crashes during testing.</a:t>
            </a: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DEPARTMENT F</a:t>
            </a:r>
            <a:r>
              <a:rPr lang="en-US" b="true" sz="638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EEDBACK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79143" y="398345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57516" y="3964900"/>
            <a:ext cx="9464641" cy="217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9"/>
              </a:lnSpc>
            </a:pP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rove form visibility through better 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UI contrast.</a:t>
            </a:r>
          </a:p>
          <a:p>
            <a:pPr algn="just">
              <a:lnSpc>
                <a:spcPts val="3459"/>
              </a:lnSpc>
            </a:pPr>
          </a:p>
          <a:p>
            <a:pPr algn="just" marL="533533" indent="-266767" lvl="1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Enhanc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notifications for p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ding contracts.</a:t>
            </a:r>
          </a:p>
          <a:p>
            <a:pPr algn="just">
              <a:lnSpc>
                <a:spcPts val="345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705847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SUGGESTED IMPROVEMENTS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7"/>
              </a:lnSpc>
            </a:pPr>
            <a:r>
              <a:rPr lang="en-US" sz="51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Overall verdict</a:t>
            </a:r>
          </a:p>
          <a:p>
            <a:pPr algn="l" marL="533533" indent="-266767" lvl="1">
              <a:lnSpc>
                <a:spcPts val="2520"/>
              </a:lnSpc>
              <a:buFont typeface="Arial"/>
              <a:buChar char="•"/>
            </a:pPr>
            <a:r>
              <a:rPr lang="en-US" sz="18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Accepted — representatives from all ten departments, no major errors or system crashes reported during testing</a:t>
            </a:r>
          </a:p>
          <a:p>
            <a:pPr algn="l">
              <a:lnSpc>
                <a:spcPts val="2520"/>
              </a:lnSpc>
            </a:pPr>
            <a:r>
              <a:rPr lang="en-US" b="true" sz="18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Strengths</a:t>
            </a:r>
          </a:p>
          <a:p>
            <a:pPr algn="l" marL="533533" indent="-266767" lvl="1">
              <a:lnSpc>
                <a:spcPts val="2520"/>
              </a:lnSpc>
              <a:buFont typeface="Arial"/>
              <a:buChar char="•"/>
            </a:pPr>
            <a:r>
              <a:rPr lang="en-US" sz="18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System interface and navigation — 4.83 / 5</a:t>
            </a:r>
          </a:p>
          <a:p>
            <a:pPr algn="l" marL="533533" indent="-266767" lvl="1">
              <a:lnSpc>
                <a:spcPts val="2520"/>
              </a:lnSpc>
              <a:buFont typeface="Arial"/>
              <a:buChar char="•"/>
            </a:pPr>
            <a:r>
              <a:rPr lang="en-US" sz="18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Daily task and interdepartmental coordination — 4.83 / 5</a:t>
            </a:r>
          </a:p>
          <a:p>
            <a:pPr algn="l" marL="533533" indent="-266767" lvl="1">
              <a:lnSpc>
                <a:spcPts val="2520"/>
              </a:lnSpc>
              <a:buFont typeface="Arial"/>
              <a:buChar char="•"/>
            </a:pPr>
            <a:r>
              <a:rPr lang="en-US" sz="18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Event tracking and progress monitoring — 4.74 / 5</a:t>
            </a:r>
          </a:p>
          <a:p>
            <a:pPr algn="l">
              <a:lnSpc>
                <a:spcPts val="2520"/>
              </a:lnSpc>
            </a:pPr>
            <a:r>
              <a:rPr lang="en-US" b="true" sz="18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Area for improvement</a:t>
            </a:r>
          </a:p>
          <a:p>
            <a:pPr algn="l" marL="533533" indent="-266767" lvl="1">
              <a:lnSpc>
                <a:spcPts val="2520"/>
              </a:lnSpc>
              <a:buFont typeface="Arial"/>
              <a:buChar char="•"/>
            </a:pPr>
            <a:r>
              <a:rPr lang="en-US" sz="18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Workflow clarity — 4.63 / 5, the lowest-rated criterion</a:t>
            </a:r>
          </a:p>
          <a:p>
            <a:pPr algn="l">
              <a:lnSpc>
                <a:spcPts val="2520"/>
              </a:lnSpc>
            </a:pPr>
            <a:r>
              <a:rPr lang="en-US" b="true" sz="18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Action taken after UAT</a:t>
            </a:r>
          </a:p>
          <a:p>
            <a:pPr algn="l" marL="533533" indent="-266767" lvl="1">
              <a:lnSpc>
                <a:spcPts val="2520"/>
              </a:lnSpc>
              <a:buFont typeface="Arial"/>
              <a:buChar char="•"/>
            </a:pPr>
            <a:r>
              <a:rPr lang="en-US" sz="18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Form visibility improved through stronger UI contrast</a:t>
            </a:r>
          </a:p>
          <a:p>
            <a:pPr algn="l" marL="533533" indent="-266767" lvl="1">
              <a:lnSpc>
                <a:spcPts val="2520"/>
              </a:lnSpc>
              <a:buFont typeface="Arial"/>
              <a:buChar char="•"/>
            </a:pPr>
            <a:r>
              <a:rPr lang="en-US" sz="18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Notifications for pending contracts enhanced and routed per department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059707"/>
            <a:ext cx="6339325" cy="20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0"/>
              </a:lnSpc>
            </a:pPr>
            <a:r>
              <a:rPr lang="en-US" sz="57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VERDICT &amp; KEY FINDINGS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4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7566674" cy="10680117"/>
            <a:chOff x="0" y="0"/>
            <a:chExt cx="4626614" cy="2812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614" cy="2812870"/>
            </a:xfrm>
            <a:custGeom>
              <a:avLst/>
              <a:gdLst/>
              <a:ahLst/>
              <a:cxnLst/>
              <a:rect r="r" b="b" t="t" l="l"/>
              <a:pathLst>
                <a:path h="2812870" w="4626614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true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19881" y="3007153"/>
            <a:ext cx="4691794" cy="4691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8395" y="3045253"/>
            <a:ext cx="2674155" cy="26741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9208" y="6182504"/>
            <a:ext cx="1478343" cy="14783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CBE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18154" y="1081375"/>
            <a:ext cx="641146" cy="421628"/>
            <a:chOff x="0" y="0"/>
            <a:chExt cx="854861" cy="562171"/>
          </a:xfrm>
        </p:grpSpPr>
        <p:sp>
          <p:nvSpPr>
            <p:cNvPr name="AutoShape 30" id="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8893175"/>
            <a:ext cx="353245" cy="3532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0214" y="8845550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76690" y="3566803"/>
            <a:ext cx="13127499" cy="230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b="true" sz="1340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DEMO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1106" y="-2277588"/>
            <a:ext cx="9494259" cy="4097485"/>
            <a:chOff x="0" y="0"/>
            <a:chExt cx="2500546" cy="1079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546" cy="1079173"/>
            </a:xfrm>
            <a:custGeom>
              <a:avLst/>
              <a:gdLst/>
              <a:ahLst/>
              <a:cxnLst/>
              <a:rect r="r" b="b" t="t" l="l"/>
              <a:pathLst>
                <a:path h="1079173" w="2500546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083" cy="2230803"/>
            </a:xfrm>
            <a:custGeom>
              <a:avLst/>
              <a:gdLst/>
              <a:ahLst/>
              <a:cxnLst/>
              <a:rect r="r" b="b" t="t" l="l"/>
              <a:pathLst>
                <a:path h="2230803" w="55108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652888" y="1028700"/>
            <a:ext cx="1568783" cy="474303"/>
            <a:chOff x="0" y="0"/>
            <a:chExt cx="458223" cy="138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223" cy="138538"/>
            </a:xfrm>
            <a:custGeom>
              <a:avLst/>
              <a:gdLst/>
              <a:ahLst/>
              <a:cxnLst/>
              <a:rect r="r" b="b" t="t" l="l"/>
              <a:pathLst>
                <a:path h="138538" w="458223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36360" y="1028700"/>
            <a:ext cx="1706953" cy="474303"/>
            <a:chOff x="0" y="0"/>
            <a:chExt cx="498581" cy="138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24582" y="1028700"/>
            <a:ext cx="1706953" cy="474303"/>
            <a:chOff x="0" y="0"/>
            <a:chExt cx="498581" cy="138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8581" cy="138538"/>
            </a:xfrm>
            <a:custGeom>
              <a:avLst/>
              <a:gdLst/>
              <a:ahLst/>
              <a:cxnLst/>
              <a:rect r="r" b="b" t="t" l="l"/>
              <a:pathLst>
                <a:path h="138538" w="498581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cap="flat" w="3810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6048" y="588080"/>
            <a:ext cx="6023238" cy="6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7"/>
              </a:lnSpc>
            </a:pPr>
            <a:r>
              <a:rPr lang="en-US" sz="51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DEMO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0543" y="1076878"/>
            <a:ext cx="1373472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5319" y="1058842"/>
            <a:ext cx="1529035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5605" y="1083466"/>
            <a:ext cx="1424907" cy="3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3359" y="1823119"/>
            <a:ext cx="9464641" cy="74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33" indent="-533533">
              <a:lnSpc>
                <a:spcPts val="2800"/>
              </a:lnSpc>
            </a:pPr>
            <a:r>
              <a:rPr lang="en-US" b="true" sz="20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1.  </a:t>
            </a:r>
            <a:r>
              <a:rPr lang="en-US" sz="20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Accounting — setting the monthly operating budget</a:t>
            </a:r>
          </a:p>
          <a:p>
            <a:pPr algn="l" marL="533533" indent="-533533">
              <a:lnSpc>
                <a:spcPts val="2800"/>
              </a:lnSpc>
            </a:pPr>
            <a:r>
              <a:rPr lang="en-US" b="true" sz="20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2.  </a:t>
            </a:r>
            <a:r>
              <a:rPr lang="en-US" sz="20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Accounting — the budget enforcing procurement approval</a:t>
            </a:r>
          </a:p>
          <a:p>
            <a:pPr algn="l" marL="533533" indent="-533533">
              <a:lnSpc>
                <a:spcPts val="2800"/>
              </a:lnSpc>
            </a:pPr>
            <a:r>
              <a:rPr lang="en-US" b="true" sz="20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3.  </a:t>
            </a:r>
            <a:r>
              <a:rPr lang="en-US" sz="20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Reports — role-scoped reports, aging, and Excel export</a:t>
            </a:r>
          </a:p>
          <a:p>
            <a:pPr algn="l" marL="533533" indent="-533533">
              <a:lnSpc>
                <a:spcPts val="2800"/>
              </a:lnSpc>
            </a:pPr>
            <a:r>
              <a:rPr lang="en-US" b="true" sz="20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4.  </a:t>
            </a:r>
            <a:r>
              <a:rPr lang="en-US" sz="20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Closing scenario — payment hold and contract closure</a:t>
            </a:r>
          </a:p>
          <a:p>
            <a:pPr algn="l" marL="533533" indent="-533533">
              <a:lnSpc>
                <a:spcPts val="2800"/>
              </a:lnSpc>
            </a:pPr>
            <a:r>
              <a:rPr lang="en-US" b="true" sz="2000" spc="74">
                <a:solidFill>
                  <a:srgbClr val="4A1223"/>
                </a:solidFill>
                <a:latin typeface="Lato Bold"/>
                <a:ea typeface="Lato Bold"/>
                <a:cs typeface="Lato Bold"/>
                <a:sym typeface="Lato Bold"/>
              </a:rPr>
              <a:t>5.  </a:t>
            </a:r>
            <a:r>
              <a:rPr lang="en-US" sz="20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Scenario spotlights — same-day shortage and post-event incident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contract’s full journey was presented at the CAP-1 defense and is not repeated here.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622577" y="1080892"/>
            <a:ext cx="641146" cy="421628"/>
            <a:chOff x="0" y="0"/>
            <a:chExt cx="854861" cy="562171"/>
          </a:xfrm>
        </p:grpSpPr>
        <p:sp>
          <p:nvSpPr>
            <p:cNvPr name="AutoShape 26" id="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cap="flat" w="50800">
              <a:solidFill>
                <a:srgbClr val="CBE5F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cap="flat" w="50800">
              <a:solidFill>
                <a:srgbClr val="89475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3244342"/>
            <a:ext cx="6339325" cy="16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381" b="true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DEMO FLOW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9258300"/>
            <a:ext cx="353245" cy="35324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80214" y="9210675"/>
            <a:ext cx="4722166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DAG41bK1-8g</dc:identifier>
  <dcterms:modified xsi:type="dcterms:W3CDTF">2011-08-01T06:04:30Z</dcterms:modified>
  <cp:revision>1</cp:revision>
  <dc:title>CAP2 defense Presentation</dc:title>
</cp:coreProperties>
</file>